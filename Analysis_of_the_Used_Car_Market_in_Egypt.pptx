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869A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0" d="100"/>
          <a:sy n="110" d="100"/>
        </p:scale>
        <p:origin x="658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0502628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3" Type="http://schemas.openxmlformats.org/officeDocument/2006/relationships/image" Target="../media/image1.png"/><Relationship Id="rId7" Type="http://schemas.openxmlformats.org/officeDocument/2006/relationships/hyperlink" Target="mailto:Abdelrhman_Khalid1994@outlook.com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hyperlink" Target="mailto:taka.ghonam123@gmail.com" TargetMode="External"/><Relationship Id="rId5" Type="http://schemas.openxmlformats.org/officeDocument/2006/relationships/hyperlink" Target="mailto:Fahimazizguide@gmail.com" TargetMode="External"/><Relationship Id="rId4" Type="http://schemas.openxmlformats.org/officeDocument/2006/relationships/hyperlink" Target="mailto:Michael.samoel31@Gmail.com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455AAD7E-7669-429E-A770-EB97E5FA8F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14375" y="877816"/>
            <a:ext cx="7715250" cy="109723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lnSpc>
                <a:spcPts val="4300"/>
              </a:lnSpc>
              <a:buNone/>
            </a:pPr>
            <a:r>
              <a:rPr lang="en-US" sz="3294" b="1" dirty="0">
                <a:solidFill>
                  <a:srgbClr val="1A1A1A"/>
                </a:solidFill>
              </a:rPr>
              <a:t>Analysis of the Used Car Market in Egypt</a:t>
            </a:r>
            <a:endParaRPr lang="en-US" sz="3294" dirty="0"/>
          </a:p>
        </p:txBody>
      </p:sp>
      <p:sp>
        <p:nvSpPr>
          <p:cNvPr id="4" name="Text 1"/>
          <p:cNvSpPr/>
          <p:nvPr/>
        </p:nvSpPr>
        <p:spPr>
          <a:xfrm>
            <a:off x="1319172" y="1575002"/>
            <a:ext cx="6505628" cy="30636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ts val="2200"/>
              </a:lnSpc>
              <a:buNone/>
            </a:pPr>
            <a:r>
              <a:rPr lang="en-US" sz="2800" dirty="0">
                <a:solidFill>
                  <a:srgbClr val="336EA8"/>
                </a:solidFill>
              </a:rPr>
              <a:t>Factors Influencing Prices and Market Trends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1823275" y="1993979"/>
            <a:ext cx="5497423" cy="19466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ts val="1400"/>
              </a:lnSpc>
              <a:buNone/>
            </a:pPr>
            <a:r>
              <a:rPr lang="en-US" sz="987" b="1" dirty="0">
                <a:solidFill>
                  <a:srgbClr val="047954"/>
                </a:solidFill>
              </a:rPr>
              <a:t>Team Members:</a:t>
            </a:r>
            <a:r>
              <a:rPr lang="en-US" sz="1050" dirty="0">
                <a:solidFill>
                  <a:srgbClr val="1A1A1A"/>
                </a:solidFill>
              </a:rPr>
              <a:t> Michael Samuel, Toka Ghonim, Abd Elrahman Khaled, Fahim Aziz</a:t>
            </a:r>
            <a:endParaRPr lang="en-US" sz="987" dirty="0"/>
          </a:p>
        </p:txBody>
      </p:sp>
      <p:sp>
        <p:nvSpPr>
          <p:cNvPr id="6" name="Text 3"/>
          <p:cNvSpPr/>
          <p:nvPr/>
        </p:nvSpPr>
        <p:spPr>
          <a:xfrm>
            <a:off x="1823275" y="2398591"/>
            <a:ext cx="5497423" cy="19466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ts val="1400"/>
              </a:lnSpc>
              <a:buNone/>
            </a:pPr>
            <a:r>
              <a:rPr lang="en-US" sz="987" b="1" dirty="0">
                <a:solidFill>
                  <a:srgbClr val="047954"/>
                </a:solidFill>
              </a:rPr>
              <a:t>Supervisor:</a:t>
            </a:r>
            <a:r>
              <a:rPr lang="en-US" sz="1050" dirty="0">
                <a:solidFill>
                  <a:srgbClr val="1A1A1A"/>
                </a:solidFill>
              </a:rPr>
              <a:t> Eng. Sherihan Ali</a:t>
            </a:r>
            <a:endParaRPr lang="en-US" sz="987" dirty="0"/>
          </a:p>
        </p:txBody>
      </p:sp>
      <p:sp>
        <p:nvSpPr>
          <p:cNvPr id="7" name="Text 4"/>
          <p:cNvSpPr/>
          <p:nvPr/>
        </p:nvSpPr>
        <p:spPr>
          <a:xfrm>
            <a:off x="1823275" y="3915175"/>
            <a:ext cx="5497423" cy="19466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ts val="1400"/>
              </a:lnSpc>
              <a:buNone/>
            </a:pPr>
            <a:r>
              <a:rPr lang="en-US" sz="987" b="1" dirty="0">
                <a:solidFill>
                  <a:srgbClr val="047954"/>
                </a:solidFill>
              </a:rPr>
              <a:t>Date:</a:t>
            </a:r>
            <a:r>
              <a:rPr lang="en-US" sz="1050" dirty="0">
                <a:solidFill>
                  <a:srgbClr val="1A1A1A"/>
                </a:solidFill>
              </a:rPr>
              <a:t> 31 October 2025</a:t>
            </a:r>
            <a:endParaRPr lang="en-US" sz="987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18A1C76-48F4-4C7F-8619-896C205472F0}"/>
              </a:ext>
            </a:extLst>
          </p:cNvPr>
          <p:cNvSpPr txBox="1"/>
          <p:nvPr/>
        </p:nvSpPr>
        <p:spPr>
          <a:xfrm>
            <a:off x="8234363" y="4792979"/>
            <a:ext cx="338138" cy="261610"/>
          </a:xfrm>
          <a:prstGeom prst="rect">
            <a:avLst/>
          </a:prstGeom>
          <a:solidFill>
            <a:srgbClr val="1869A6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bg1"/>
                </a:solidFill>
              </a:rPr>
              <a:t>1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262131A0-AF7B-40B3-9DE9-5C53F4122A1E}"/>
              </a:ext>
            </a:extLst>
          </p:cNvPr>
          <p:cNvGrpSpPr/>
          <p:nvPr/>
        </p:nvGrpSpPr>
        <p:grpSpPr>
          <a:xfrm>
            <a:off x="6703435" y="4539866"/>
            <a:ext cx="1223665" cy="562602"/>
            <a:chOff x="6703435" y="4539866"/>
            <a:chExt cx="1223665" cy="562602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923A0B9B-0155-4251-B98B-079795E5F259}"/>
                </a:ext>
              </a:extLst>
            </p:cNvPr>
            <p:cNvSpPr txBox="1"/>
            <p:nvPr/>
          </p:nvSpPr>
          <p:spPr>
            <a:xfrm>
              <a:off x="6703435" y="4539866"/>
              <a:ext cx="1160318" cy="562602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endParaRPr lang="en-US" dirty="0"/>
            </a:p>
          </p:txBody>
        </p:sp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2950A4A2-B949-4D04-80AC-D721D323C94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992144" y="4792979"/>
              <a:ext cx="934956" cy="242765"/>
            </a:xfrm>
            <a:prstGeom prst="rect">
              <a:avLst/>
            </a:prstGeom>
            <a:noFill/>
          </p:spPr>
        </p:pic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>
            <a:extLst>
              <a:ext uri="{FF2B5EF4-FFF2-40B4-BE49-F238E27FC236}">
                <a16:creationId xmlns:a16="http://schemas.microsoft.com/office/drawing/2014/main" id="{54DFDC82-69F8-4A4E-8511-43A4FC134A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1500" y="867519"/>
            <a:ext cx="8001000" cy="362545"/>
          </a:xfrm>
          <a:prstGeom prst="rect">
            <a:avLst/>
          </a:prstGeom>
          <a:noFill/>
          <a:ln/>
        </p:spPr>
        <p:txBody>
          <a:bodyPr wrap="none" lIns="0" tIns="0" rIns="0" bIns="42545" rtlCol="0" anchor="t">
            <a:spAutoFit/>
          </a:bodyPr>
          <a:lstStyle/>
          <a:p>
            <a:pPr marL="0" indent="0" algn="l">
              <a:lnSpc>
                <a:spcPts val="2200"/>
              </a:lnSpc>
              <a:buNone/>
            </a:pPr>
            <a:r>
              <a:rPr lang="en-US" sz="1602" b="1" dirty="0">
                <a:solidFill>
                  <a:srgbClr val="1A1A1A"/>
                </a:solidFill>
              </a:rPr>
              <a:t>Project Idea: Problem, Solution, Value</a:t>
            </a:r>
            <a:endParaRPr lang="en-US" sz="1602" dirty="0"/>
          </a:p>
        </p:txBody>
      </p:sp>
      <p:sp>
        <p:nvSpPr>
          <p:cNvPr id="4" name="Text 1"/>
          <p:cNvSpPr/>
          <p:nvPr/>
        </p:nvSpPr>
        <p:spPr>
          <a:xfrm>
            <a:off x="571500" y="1372939"/>
            <a:ext cx="8001000" cy="23395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193" b="1" dirty="0">
                <a:solidFill>
                  <a:srgbClr val="336EA8"/>
                </a:solidFill>
              </a:rPr>
              <a:t>Problem Statement</a:t>
            </a:r>
            <a:endParaRPr lang="en-US" sz="1193" dirty="0"/>
          </a:p>
        </p:txBody>
      </p:sp>
      <p:sp>
        <p:nvSpPr>
          <p:cNvPr id="5" name="Text 2"/>
          <p:cNvSpPr/>
          <p:nvPr/>
        </p:nvSpPr>
        <p:spPr>
          <a:xfrm>
            <a:off x="714375" y="1678335"/>
            <a:ext cx="7858125" cy="41143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942" dirty="0">
                <a:solidFill>
                  <a:srgbClr val="1A1A1A"/>
                </a:solidFill>
              </a:rPr>
              <a:t>The Egyptian used car market faces challenges related to a lack of transparency and difficulty in determining fair prices, affecting buyer and seller confidence.</a:t>
            </a:r>
            <a:endParaRPr lang="en-US" sz="942" dirty="0"/>
          </a:p>
        </p:txBody>
      </p:sp>
      <p:sp>
        <p:nvSpPr>
          <p:cNvPr id="6" name="Text 3"/>
          <p:cNvSpPr/>
          <p:nvPr/>
        </p:nvSpPr>
        <p:spPr>
          <a:xfrm>
            <a:off x="571500" y="2232645"/>
            <a:ext cx="8001000" cy="23395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193" b="1" dirty="0">
                <a:solidFill>
                  <a:srgbClr val="336EA8"/>
                </a:solidFill>
              </a:rPr>
              <a:t>Proposed Solution &amp; Value Proposition</a:t>
            </a:r>
            <a:endParaRPr lang="en-US" sz="1193" dirty="0"/>
          </a:p>
        </p:txBody>
      </p:sp>
      <p:sp>
        <p:nvSpPr>
          <p:cNvPr id="7" name="Text 4"/>
          <p:cNvSpPr/>
          <p:nvPr/>
        </p:nvSpPr>
        <p:spPr>
          <a:xfrm>
            <a:off x="714375" y="2538040"/>
            <a:ext cx="4235134" cy="18575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942" dirty="0">
                <a:solidFill>
                  <a:srgbClr val="1A1A1A"/>
                </a:solidFill>
              </a:rPr>
              <a:t>Solution: Analyze used car market data to understand key factors influencing prices.</a:t>
            </a:r>
            <a:endParaRPr lang="en-US" sz="942" dirty="0"/>
          </a:p>
        </p:txBody>
      </p:sp>
      <p:sp>
        <p:nvSpPr>
          <p:cNvPr id="8" name="Text 5"/>
          <p:cNvSpPr/>
          <p:nvPr/>
        </p:nvSpPr>
        <p:spPr>
          <a:xfrm>
            <a:off x="714375" y="2815196"/>
            <a:ext cx="5810886" cy="18575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942" dirty="0">
                <a:solidFill>
                  <a:srgbClr val="1A1A1A"/>
                </a:solidFill>
              </a:rPr>
              <a:t>Value: Provide clear, data-driven insights and recommendations to support decision-making for market participants.</a:t>
            </a:r>
            <a:endParaRPr lang="en-US" sz="942" dirty="0"/>
          </a:p>
        </p:txBody>
      </p:sp>
      <p:sp>
        <p:nvSpPr>
          <p:cNvPr id="9" name="Text 6"/>
          <p:cNvSpPr/>
          <p:nvPr/>
        </p:nvSpPr>
        <p:spPr>
          <a:xfrm>
            <a:off x="571500" y="3163788"/>
            <a:ext cx="8001000" cy="23395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193" b="1" dirty="0">
                <a:solidFill>
                  <a:srgbClr val="336EA8"/>
                </a:solidFill>
              </a:rPr>
              <a:t>Key Findings (Executive Summary)</a:t>
            </a:r>
            <a:endParaRPr lang="en-US" sz="1193" dirty="0"/>
          </a:p>
        </p:txBody>
      </p:sp>
      <p:sp>
        <p:nvSpPr>
          <p:cNvPr id="10" name="Text 7"/>
          <p:cNvSpPr/>
          <p:nvPr/>
        </p:nvSpPr>
        <p:spPr>
          <a:xfrm>
            <a:off x="714375" y="3483471"/>
            <a:ext cx="2016658" cy="17502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885" b="1" dirty="0">
                <a:solidFill>
                  <a:srgbClr val="047954"/>
                </a:solidFill>
              </a:rPr>
              <a:t>Economic Segment Dominance:</a:t>
            </a:r>
            <a:endParaRPr lang="en-US" sz="885" dirty="0"/>
          </a:p>
        </p:txBody>
      </p:sp>
      <p:sp>
        <p:nvSpPr>
          <p:cNvPr id="11" name="Text 8"/>
          <p:cNvSpPr/>
          <p:nvPr/>
        </p:nvSpPr>
        <p:spPr>
          <a:xfrm>
            <a:off x="2350033" y="3483471"/>
            <a:ext cx="4556764" cy="17502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942" dirty="0">
                <a:solidFill>
                  <a:srgbClr val="1A1A1A"/>
                </a:solidFill>
              </a:rPr>
              <a:t>Over 87% of sales are concentrated in "Cheap" and "Affordable" categories.</a:t>
            </a:r>
            <a:endParaRPr lang="en-US" sz="942" dirty="0"/>
          </a:p>
        </p:txBody>
      </p:sp>
      <p:sp>
        <p:nvSpPr>
          <p:cNvPr id="12" name="Text 9"/>
          <p:cNvSpPr/>
          <p:nvPr/>
        </p:nvSpPr>
        <p:spPr>
          <a:xfrm>
            <a:off x="714375" y="3760626"/>
            <a:ext cx="1628189" cy="17502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885" b="1" dirty="0">
                <a:solidFill>
                  <a:srgbClr val="047954"/>
                </a:solidFill>
              </a:rPr>
              <a:t>Persistent Price Increase:</a:t>
            </a:r>
            <a:endParaRPr lang="en-US" sz="885" dirty="0"/>
          </a:p>
        </p:txBody>
      </p:sp>
      <p:sp>
        <p:nvSpPr>
          <p:cNvPr id="13" name="Text 10"/>
          <p:cNvSpPr/>
          <p:nvPr/>
        </p:nvSpPr>
        <p:spPr>
          <a:xfrm>
            <a:off x="2342564" y="3760626"/>
            <a:ext cx="5803683" cy="17502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942" dirty="0">
                <a:solidFill>
                  <a:srgbClr val="1A1A1A"/>
                </a:solidFill>
              </a:rPr>
              <a:t>The market has seen a sharp and sustained price increase since 2016 due to economic inflation.</a:t>
            </a:r>
            <a:endParaRPr lang="en-US" sz="942" dirty="0"/>
          </a:p>
        </p:txBody>
      </p:sp>
      <p:sp>
        <p:nvSpPr>
          <p:cNvPr id="14" name="Text 11"/>
          <p:cNvSpPr/>
          <p:nvPr/>
        </p:nvSpPr>
        <p:spPr>
          <a:xfrm>
            <a:off x="714375" y="4037781"/>
            <a:ext cx="1632961" cy="17502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885" b="1" dirty="0">
                <a:solidFill>
                  <a:srgbClr val="047954"/>
                </a:solidFill>
              </a:rPr>
              <a:t>Preference for Reliability:</a:t>
            </a:r>
            <a:endParaRPr lang="en-US" sz="885" dirty="0"/>
          </a:p>
        </p:txBody>
      </p:sp>
      <p:sp>
        <p:nvSpPr>
          <p:cNvPr id="15" name="Text 12"/>
          <p:cNvSpPr/>
          <p:nvPr/>
        </p:nvSpPr>
        <p:spPr>
          <a:xfrm>
            <a:off x="2342565" y="4072049"/>
            <a:ext cx="6743070" cy="1857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942" dirty="0">
                <a:solidFill>
                  <a:srgbClr val="1A1A1A"/>
                </a:solidFill>
              </a:rPr>
              <a:t>Demand is focused on reliable, affordable models (e.g., Lanos, Verna) with a near-equal split between manual and automatic transmission.</a:t>
            </a:r>
            <a:endParaRPr lang="en-US" sz="942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77410D9-EF20-480B-9762-98C7A56E4A5F}"/>
              </a:ext>
            </a:extLst>
          </p:cNvPr>
          <p:cNvSpPr txBox="1"/>
          <p:nvPr/>
        </p:nvSpPr>
        <p:spPr>
          <a:xfrm>
            <a:off x="8234363" y="4792979"/>
            <a:ext cx="338138" cy="261610"/>
          </a:xfrm>
          <a:prstGeom prst="rect">
            <a:avLst/>
          </a:prstGeom>
          <a:solidFill>
            <a:srgbClr val="1869A6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bg1"/>
                </a:solidFill>
              </a:rPr>
              <a:t>2</a:t>
            </a: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A5C84259-3A3F-4E4B-87DF-92AE727BA7D7}"/>
              </a:ext>
            </a:extLst>
          </p:cNvPr>
          <p:cNvGrpSpPr/>
          <p:nvPr/>
        </p:nvGrpSpPr>
        <p:grpSpPr>
          <a:xfrm>
            <a:off x="6703435" y="4539866"/>
            <a:ext cx="1223665" cy="562602"/>
            <a:chOff x="6703435" y="4539866"/>
            <a:chExt cx="1223665" cy="562602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EA4EB322-29CD-4E0A-8D7C-06C07F852164}"/>
                </a:ext>
              </a:extLst>
            </p:cNvPr>
            <p:cNvSpPr txBox="1"/>
            <p:nvPr/>
          </p:nvSpPr>
          <p:spPr>
            <a:xfrm>
              <a:off x="6703435" y="4539866"/>
              <a:ext cx="1160318" cy="562602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endParaRPr lang="en-US" dirty="0"/>
            </a:p>
          </p:txBody>
        </p:sp>
        <p:pic>
          <p:nvPicPr>
            <p:cNvPr id="20" name="Picture 19">
              <a:extLst>
                <a:ext uri="{FF2B5EF4-FFF2-40B4-BE49-F238E27FC236}">
                  <a16:creationId xmlns:a16="http://schemas.microsoft.com/office/drawing/2014/main" id="{B77ED497-15DF-40F0-AF7B-9DCED724DFA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992144" y="4792979"/>
              <a:ext cx="934956" cy="242765"/>
            </a:xfrm>
            <a:prstGeom prst="rect">
              <a:avLst/>
            </a:prstGeom>
            <a:noFill/>
          </p:spPr>
        </p:pic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" name="Picture 35">
            <a:extLst>
              <a:ext uri="{FF2B5EF4-FFF2-40B4-BE49-F238E27FC236}">
                <a16:creationId xmlns:a16="http://schemas.microsoft.com/office/drawing/2014/main" id="{7FE233B2-363B-45ED-8D2F-74ED508C1E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1500" y="867519"/>
            <a:ext cx="8001000" cy="362545"/>
          </a:xfrm>
          <a:prstGeom prst="rect">
            <a:avLst/>
          </a:prstGeom>
          <a:noFill/>
          <a:ln/>
        </p:spPr>
        <p:txBody>
          <a:bodyPr wrap="none" lIns="0" tIns="0" rIns="0" bIns="42545" rtlCol="0" anchor="t">
            <a:spAutoFit/>
          </a:bodyPr>
          <a:lstStyle/>
          <a:p>
            <a:pPr marL="0" indent="0" algn="l">
              <a:lnSpc>
                <a:spcPts val="2200"/>
              </a:lnSpc>
              <a:buNone/>
            </a:pPr>
            <a:r>
              <a:rPr lang="en-US" sz="1602" b="1" dirty="0">
                <a:solidFill>
                  <a:srgbClr val="1A1A1A"/>
                </a:solidFill>
              </a:rPr>
              <a:t>Key Data Visualizations: Market Overview</a:t>
            </a:r>
            <a:endParaRPr lang="en-US" sz="1602" dirty="0"/>
          </a:p>
        </p:txBody>
      </p:sp>
      <p:sp>
        <p:nvSpPr>
          <p:cNvPr id="4" name="Text 1"/>
          <p:cNvSpPr/>
          <p:nvPr/>
        </p:nvSpPr>
        <p:spPr>
          <a:xfrm>
            <a:off x="571500" y="1372939"/>
            <a:ext cx="3857625" cy="19466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1050" dirty="0">
                <a:solidFill>
                  <a:srgbClr val="336EA8"/>
                </a:solidFill>
              </a:rPr>
              <a:t>32,000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571500" y="1567607"/>
            <a:ext cx="3857625" cy="19466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1050" dirty="0">
                <a:solidFill>
                  <a:srgbClr val="336EA8"/>
                </a:solidFill>
              </a:rPr>
              <a:t>Total Used Vehicles Sold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571500" y="1905149"/>
            <a:ext cx="1619176" cy="273248"/>
          </a:xfrm>
          <a:prstGeom prst="rect">
            <a:avLst/>
          </a:prstGeom>
          <a:solidFill>
            <a:srgbClr val="336EA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4"/>
          <p:cNvSpPr/>
          <p:nvPr/>
        </p:nvSpPr>
        <p:spPr>
          <a:xfrm>
            <a:off x="571500" y="2171254"/>
            <a:ext cx="1619176" cy="7144"/>
          </a:xfrm>
          <a:prstGeom prst="rect">
            <a:avLst/>
          </a:prstGeom>
          <a:solidFill>
            <a:srgbClr val="DDDDD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571500" y="1905149"/>
            <a:ext cx="1619176" cy="273248"/>
          </a:xfrm>
          <a:prstGeom prst="rect">
            <a:avLst/>
          </a:prstGeom>
          <a:noFill/>
          <a:ln/>
        </p:spPr>
        <p:txBody>
          <a:bodyPr wrap="square" lIns="102108" tIns="68072" rIns="102108" bIns="68072" rtlCol="0" anchor="ctr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784" b="1" dirty="0">
                <a:solidFill>
                  <a:srgbClr val="FFFFFF"/>
                </a:solidFill>
              </a:rPr>
              <a:t>Price Segment</a:t>
            </a:r>
            <a:endParaRPr lang="en-US" sz="784" dirty="0"/>
          </a:p>
        </p:txBody>
      </p:sp>
      <p:sp>
        <p:nvSpPr>
          <p:cNvPr id="9" name="Shape 6"/>
          <p:cNvSpPr/>
          <p:nvPr/>
        </p:nvSpPr>
        <p:spPr>
          <a:xfrm>
            <a:off x="2190676" y="1905149"/>
            <a:ext cx="1214131" cy="273248"/>
          </a:xfrm>
          <a:prstGeom prst="rect">
            <a:avLst/>
          </a:prstGeom>
          <a:solidFill>
            <a:srgbClr val="336EA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2190676" y="2171254"/>
            <a:ext cx="1214131" cy="7144"/>
          </a:xfrm>
          <a:prstGeom prst="rect">
            <a:avLst/>
          </a:prstGeom>
          <a:solidFill>
            <a:srgbClr val="DDDDD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2190676" y="1905149"/>
            <a:ext cx="1214131" cy="273248"/>
          </a:xfrm>
          <a:prstGeom prst="rect">
            <a:avLst/>
          </a:prstGeom>
          <a:noFill/>
          <a:ln/>
        </p:spPr>
        <p:txBody>
          <a:bodyPr wrap="square" lIns="102108" tIns="68072" rIns="102108" bIns="68072" rtlCol="0" anchor="ctr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784" b="1" dirty="0">
                <a:solidFill>
                  <a:srgbClr val="FFFFFF"/>
                </a:solidFill>
              </a:rPr>
              <a:t>Units Sold</a:t>
            </a:r>
            <a:endParaRPr lang="en-US" sz="784" dirty="0"/>
          </a:p>
        </p:txBody>
      </p:sp>
      <p:sp>
        <p:nvSpPr>
          <p:cNvPr id="12" name="Shape 9"/>
          <p:cNvSpPr/>
          <p:nvPr/>
        </p:nvSpPr>
        <p:spPr>
          <a:xfrm>
            <a:off x="3404806" y="1905149"/>
            <a:ext cx="1024319" cy="273248"/>
          </a:xfrm>
          <a:prstGeom prst="rect">
            <a:avLst/>
          </a:prstGeom>
          <a:solidFill>
            <a:srgbClr val="336EA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Shape 10"/>
          <p:cNvSpPr/>
          <p:nvPr/>
        </p:nvSpPr>
        <p:spPr>
          <a:xfrm>
            <a:off x="3404806" y="2171254"/>
            <a:ext cx="1024319" cy="7144"/>
          </a:xfrm>
          <a:prstGeom prst="rect">
            <a:avLst/>
          </a:prstGeom>
          <a:solidFill>
            <a:srgbClr val="DDDDD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/>
          <p:nvPr/>
        </p:nvSpPr>
        <p:spPr>
          <a:xfrm>
            <a:off x="3404806" y="1905149"/>
            <a:ext cx="1024319" cy="273248"/>
          </a:xfrm>
          <a:prstGeom prst="rect">
            <a:avLst/>
          </a:prstGeom>
          <a:noFill/>
          <a:ln/>
        </p:spPr>
        <p:txBody>
          <a:bodyPr wrap="square" lIns="102108" tIns="68072" rIns="102108" bIns="68072" rtlCol="0" anchor="ctr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784" b="1" dirty="0">
                <a:solidFill>
                  <a:srgbClr val="FFFFFF"/>
                </a:solidFill>
              </a:rPr>
              <a:t>Share %</a:t>
            </a:r>
            <a:endParaRPr lang="en-US" sz="784" dirty="0"/>
          </a:p>
        </p:txBody>
      </p:sp>
      <p:sp>
        <p:nvSpPr>
          <p:cNvPr id="15" name="Text 12"/>
          <p:cNvSpPr/>
          <p:nvPr/>
        </p:nvSpPr>
        <p:spPr>
          <a:xfrm>
            <a:off x="571500" y="2174825"/>
            <a:ext cx="1619176" cy="273248"/>
          </a:xfrm>
          <a:prstGeom prst="rect">
            <a:avLst/>
          </a:prstGeom>
          <a:noFill/>
          <a:ln/>
        </p:spPr>
        <p:txBody>
          <a:bodyPr wrap="square" lIns="102108" tIns="68072" rIns="102108" bIns="68072" rtlCol="0" anchor="ctr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834" dirty="0">
                <a:solidFill>
                  <a:srgbClr val="1A1A1A"/>
                </a:solidFill>
              </a:rPr>
              <a:t>Cheap</a:t>
            </a:r>
            <a:endParaRPr lang="en-US" sz="834" dirty="0"/>
          </a:p>
        </p:txBody>
      </p:sp>
      <p:sp>
        <p:nvSpPr>
          <p:cNvPr id="16" name="Text 13"/>
          <p:cNvSpPr/>
          <p:nvPr/>
        </p:nvSpPr>
        <p:spPr>
          <a:xfrm>
            <a:off x="2190676" y="2174825"/>
            <a:ext cx="1214131" cy="273248"/>
          </a:xfrm>
          <a:prstGeom prst="rect">
            <a:avLst/>
          </a:prstGeom>
          <a:noFill/>
          <a:ln/>
        </p:spPr>
        <p:txBody>
          <a:bodyPr wrap="square" lIns="102108" tIns="68072" rIns="102108" bIns="68072" rtlCol="0" anchor="ctr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834" dirty="0">
                <a:solidFill>
                  <a:srgbClr val="1A1A1A"/>
                </a:solidFill>
              </a:rPr>
              <a:t>21,000</a:t>
            </a:r>
            <a:endParaRPr lang="en-US" sz="834" dirty="0"/>
          </a:p>
        </p:txBody>
      </p:sp>
      <p:sp>
        <p:nvSpPr>
          <p:cNvPr id="17" name="Text 14"/>
          <p:cNvSpPr/>
          <p:nvPr/>
        </p:nvSpPr>
        <p:spPr>
          <a:xfrm>
            <a:off x="3404806" y="2174825"/>
            <a:ext cx="1024319" cy="273248"/>
          </a:xfrm>
          <a:prstGeom prst="rect">
            <a:avLst/>
          </a:prstGeom>
          <a:noFill/>
          <a:ln/>
        </p:spPr>
        <p:txBody>
          <a:bodyPr wrap="square" lIns="102108" tIns="68072" rIns="102108" bIns="68072" rtlCol="0" anchor="ctr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834" dirty="0">
                <a:solidFill>
                  <a:srgbClr val="1A1A1A"/>
                </a:solidFill>
              </a:rPr>
              <a:t>65.6%</a:t>
            </a:r>
            <a:endParaRPr lang="en-US" sz="834" dirty="0"/>
          </a:p>
        </p:txBody>
      </p:sp>
      <p:sp>
        <p:nvSpPr>
          <p:cNvPr id="18" name="Shape 15"/>
          <p:cNvSpPr/>
          <p:nvPr/>
        </p:nvSpPr>
        <p:spPr>
          <a:xfrm>
            <a:off x="571500" y="2448074"/>
            <a:ext cx="3857625" cy="27682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6"/>
          <p:cNvSpPr/>
          <p:nvPr/>
        </p:nvSpPr>
        <p:spPr>
          <a:xfrm>
            <a:off x="571500" y="2448074"/>
            <a:ext cx="1619176" cy="276820"/>
          </a:xfrm>
          <a:prstGeom prst="rect">
            <a:avLst/>
          </a:prstGeom>
          <a:noFill/>
          <a:ln/>
        </p:spPr>
        <p:txBody>
          <a:bodyPr wrap="square" lIns="102108" tIns="68072" rIns="102108" bIns="68072" rtlCol="0" anchor="ctr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834" dirty="0">
                <a:solidFill>
                  <a:srgbClr val="1A1A1A"/>
                </a:solidFill>
              </a:rPr>
              <a:t>Affordable</a:t>
            </a:r>
            <a:endParaRPr lang="en-US" sz="834" dirty="0"/>
          </a:p>
        </p:txBody>
      </p:sp>
      <p:sp>
        <p:nvSpPr>
          <p:cNvPr id="20" name="Text 17"/>
          <p:cNvSpPr/>
          <p:nvPr/>
        </p:nvSpPr>
        <p:spPr>
          <a:xfrm>
            <a:off x="2190676" y="2448074"/>
            <a:ext cx="1214131" cy="276820"/>
          </a:xfrm>
          <a:prstGeom prst="rect">
            <a:avLst/>
          </a:prstGeom>
          <a:noFill/>
          <a:ln/>
        </p:spPr>
        <p:txBody>
          <a:bodyPr wrap="square" lIns="102108" tIns="68072" rIns="102108" bIns="68072" rtlCol="0" anchor="ctr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834" dirty="0">
                <a:solidFill>
                  <a:srgbClr val="1A1A1A"/>
                </a:solidFill>
              </a:rPr>
              <a:t>6,912</a:t>
            </a:r>
            <a:endParaRPr lang="en-US" sz="834" dirty="0"/>
          </a:p>
        </p:txBody>
      </p:sp>
      <p:sp>
        <p:nvSpPr>
          <p:cNvPr id="21" name="Text 18"/>
          <p:cNvSpPr/>
          <p:nvPr/>
        </p:nvSpPr>
        <p:spPr>
          <a:xfrm>
            <a:off x="3404806" y="2448074"/>
            <a:ext cx="1024319" cy="276820"/>
          </a:xfrm>
          <a:prstGeom prst="rect">
            <a:avLst/>
          </a:prstGeom>
          <a:noFill/>
          <a:ln/>
        </p:spPr>
        <p:txBody>
          <a:bodyPr wrap="square" lIns="102108" tIns="68072" rIns="102108" bIns="68072" rtlCol="0" anchor="ctr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834" dirty="0">
                <a:solidFill>
                  <a:srgbClr val="1A1A1A"/>
                </a:solidFill>
              </a:rPr>
              <a:t>21.6%</a:t>
            </a:r>
            <a:endParaRPr lang="en-US" sz="834" dirty="0"/>
          </a:p>
        </p:txBody>
      </p:sp>
      <p:sp>
        <p:nvSpPr>
          <p:cNvPr id="22" name="Text 19"/>
          <p:cNvSpPr/>
          <p:nvPr/>
        </p:nvSpPr>
        <p:spPr>
          <a:xfrm>
            <a:off x="571500" y="2724894"/>
            <a:ext cx="1619176" cy="276820"/>
          </a:xfrm>
          <a:prstGeom prst="rect">
            <a:avLst/>
          </a:prstGeom>
          <a:noFill/>
          <a:ln/>
        </p:spPr>
        <p:txBody>
          <a:bodyPr wrap="square" lIns="102108" tIns="68072" rIns="102108" bIns="68072" rtlCol="0" anchor="ctr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834" dirty="0">
                <a:solidFill>
                  <a:srgbClr val="1A1A1A"/>
                </a:solidFill>
              </a:rPr>
              <a:t>Mid-range</a:t>
            </a:r>
            <a:endParaRPr lang="en-US" sz="834" dirty="0"/>
          </a:p>
        </p:txBody>
      </p:sp>
      <p:sp>
        <p:nvSpPr>
          <p:cNvPr id="23" name="Text 20"/>
          <p:cNvSpPr/>
          <p:nvPr/>
        </p:nvSpPr>
        <p:spPr>
          <a:xfrm>
            <a:off x="2190676" y="2724894"/>
            <a:ext cx="1214131" cy="276820"/>
          </a:xfrm>
          <a:prstGeom prst="rect">
            <a:avLst/>
          </a:prstGeom>
          <a:noFill/>
          <a:ln/>
        </p:spPr>
        <p:txBody>
          <a:bodyPr wrap="square" lIns="102108" tIns="68072" rIns="102108" bIns="68072" rtlCol="0" anchor="ctr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834" dirty="0">
                <a:solidFill>
                  <a:srgbClr val="1A1A1A"/>
                </a:solidFill>
              </a:rPr>
              <a:t>3,244</a:t>
            </a:r>
            <a:endParaRPr lang="en-US" sz="834" dirty="0"/>
          </a:p>
        </p:txBody>
      </p:sp>
      <p:sp>
        <p:nvSpPr>
          <p:cNvPr id="24" name="Text 21"/>
          <p:cNvSpPr/>
          <p:nvPr/>
        </p:nvSpPr>
        <p:spPr>
          <a:xfrm>
            <a:off x="3404806" y="2724894"/>
            <a:ext cx="1024319" cy="276820"/>
          </a:xfrm>
          <a:prstGeom prst="rect">
            <a:avLst/>
          </a:prstGeom>
          <a:noFill/>
          <a:ln/>
        </p:spPr>
        <p:txBody>
          <a:bodyPr wrap="square" lIns="102108" tIns="68072" rIns="102108" bIns="68072" rtlCol="0" anchor="ctr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834" dirty="0">
                <a:solidFill>
                  <a:srgbClr val="1A1A1A"/>
                </a:solidFill>
              </a:rPr>
              <a:t>10.1%</a:t>
            </a:r>
            <a:endParaRPr lang="en-US" sz="834" dirty="0"/>
          </a:p>
        </p:txBody>
      </p:sp>
      <p:sp>
        <p:nvSpPr>
          <p:cNvPr id="25" name="Shape 22"/>
          <p:cNvSpPr/>
          <p:nvPr/>
        </p:nvSpPr>
        <p:spPr>
          <a:xfrm>
            <a:off x="571500" y="3001714"/>
            <a:ext cx="3857625" cy="27682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3"/>
          <p:cNvSpPr/>
          <p:nvPr/>
        </p:nvSpPr>
        <p:spPr>
          <a:xfrm>
            <a:off x="571500" y="3001714"/>
            <a:ext cx="1619176" cy="276820"/>
          </a:xfrm>
          <a:prstGeom prst="rect">
            <a:avLst/>
          </a:prstGeom>
          <a:noFill/>
          <a:ln/>
        </p:spPr>
        <p:txBody>
          <a:bodyPr wrap="square" lIns="102108" tIns="68072" rIns="102108" bIns="68072" rtlCol="0" anchor="ctr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834" dirty="0">
                <a:solidFill>
                  <a:srgbClr val="1A1A1A"/>
                </a:solidFill>
              </a:rPr>
              <a:t>Expensive</a:t>
            </a:r>
            <a:endParaRPr lang="en-US" sz="834" dirty="0"/>
          </a:p>
        </p:txBody>
      </p:sp>
      <p:sp>
        <p:nvSpPr>
          <p:cNvPr id="27" name="Text 24"/>
          <p:cNvSpPr/>
          <p:nvPr/>
        </p:nvSpPr>
        <p:spPr>
          <a:xfrm>
            <a:off x="2190676" y="3001714"/>
            <a:ext cx="1214131" cy="276820"/>
          </a:xfrm>
          <a:prstGeom prst="rect">
            <a:avLst/>
          </a:prstGeom>
          <a:noFill/>
          <a:ln/>
        </p:spPr>
        <p:txBody>
          <a:bodyPr wrap="square" lIns="102108" tIns="68072" rIns="102108" bIns="68072" rtlCol="0" anchor="ctr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834" dirty="0">
                <a:solidFill>
                  <a:srgbClr val="1A1A1A"/>
                </a:solidFill>
              </a:rPr>
              <a:t>988</a:t>
            </a:r>
            <a:endParaRPr lang="en-US" sz="834" dirty="0"/>
          </a:p>
        </p:txBody>
      </p:sp>
      <p:sp>
        <p:nvSpPr>
          <p:cNvPr id="28" name="Text 25"/>
          <p:cNvSpPr/>
          <p:nvPr/>
        </p:nvSpPr>
        <p:spPr>
          <a:xfrm>
            <a:off x="3404806" y="3001714"/>
            <a:ext cx="1024319" cy="276820"/>
          </a:xfrm>
          <a:prstGeom prst="rect">
            <a:avLst/>
          </a:prstGeom>
          <a:noFill/>
          <a:ln/>
        </p:spPr>
        <p:txBody>
          <a:bodyPr wrap="square" lIns="102108" tIns="68072" rIns="102108" bIns="68072" rtlCol="0" anchor="ctr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834" dirty="0">
                <a:solidFill>
                  <a:srgbClr val="1A1A1A"/>
                </a:solidFill>
              </a:rPr>
              <a:t>3.1%</a:t>
            </a:r>
            <a:endParaRPr lang="en-US" sz="834" dirty="0"/>
          </a:p>
        </p:txBody>
      </p:sp>
      <p:sp>
        <p:nvSpPr>
          <p:cNvPr id="29" name="Text 26"/>
          <p:cNvSpPr/>
          <p:nvPr/>
        </p:nvSpPr>
        <p:spPr>
          <a:xfrm>
            <a:off x="571500" y="3278535"/>
            <a:ext cx="1619176" cy="276820"/>
          </a:xfrm>
          <a:prstGeom prst="rect">
            <a:avLst/>
          </a:prstGeom>
          <a:noFill/>
          <a:ln/>
        </p:spPr>
        <p:txBody>
          <a:bodyPr wrap="square" lIns="102108" tIns="68072" rIns="102108" bIns="68072" rtlCol="0" anchor="ctr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834" dirty="0">
                <a:solidFill>
                  <a:srgbClr val="1A1A1A"/>
                </a:solidFill>
              </a:rPr>
              <a:t>Extreme</a:t>
            </a:r>
            <a:endParaRPr lang="en-US" sz="834" dirty="0"/>
          </a:p>
        </p:txBody>
      </p:sp>
      <p:sp>
        <p:nvSpPr>
          <p:cNvPr id="30" name="Text 27"/>
          <p:cNvSpPr/>
          <p:nvPr/>
        </p:nvSpPr>
        <p:spPr>
          <a:xfrm>
            <a:off x="2190676" y="3278535"/>
            <a:ext cx="1214131" cy="276820"/>
          </a:xfrm>
          <a:prstGeom prst="rect">
            <a:avLst/>
          </a:prstGeom>
          <a:noFill/>
          <a:ln/>
        </p:spPr>
        <p:txBody>
          <a:bodyPr wrap="square" lIns="102108" tIns="68072" rIns="102108" bIns="68072" rtlCol="0" anchor="ctr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834" dirty="0">
                <a:solidFill>
                  <a:srgbClr val="1A1A1A"/>
                </a:solidFill>
              </a:rPr>
              <a:t>116</a:t>
            </a:r>
            <a:endParaRPr lang="en-US" sz="834" dirty="0"/>
          </a:p>
        </p:txBody>
      </p:sp>
      <p:sp>
        <p:nvSpPr>
          <p:cNvPr id="31" name="Text 28"/>
          <p:cNvSpPr/>
          <p:nvPr/>
        </p:nvSpPr>
        <p:spPr>
          <a:xfrm>
            <a:off x="3404806" y="3278535"/>
            <a:ext cx="1024319" cy="276820"/>
          </a:xfrm>
          <a:prstGeom prst="rect">
            <a:avLst/>
          </a:prstGeom>
          <a:noFill/>
          <a:ln/>
        </p:spPr>
        <p:txBody>
          <a:bodyPr wrap="square" lIns="102108" tIns="68072" rIns="102108" bIns="68072" rtlCol="0" anchor="ctr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834" dirty="0">
                <a:solidFill>
                  <a:srgbClr val="1A1A1A"/>
                </a:solidFill>
              </a:rPr>
              <a:t>0.4%</a:t>
            </a:r>
            <a:endParaRPr lang="en-US" sz="834" dirty="0"/>
          </a:p>
        </p:txBody>
      </p:sp>
      <p:sp>
        <p:nvSpPr>
          <p:cNvPr id="32" name="Text 29"/>
          <p:cNvSpPr/>
          <p:nvPr/>
        </p:nvSpPr>
        <p:spPr>
          <a:xfrm>
            <a:off x="571500" y="3701802"/>
            <a:ext cx="3857625" cy="320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834" dirty="0">
                <a:solidFill>
                  <a:srgbClr val="1A1A1A"/>
                </a:solidFill>
              </a:rPr>
              <a:t>Analysis: Over 87% of sales are concentrated in the "Cheap"</a:t>
            </a:r>
            <a:r>
              <a:rPr lang="ar-EG" sz="834" dirty="0">
                <a:solidFill>
                  <a:srgbClr val="1A1A1A"/>
                </a:solidFill>
              </a:rPr>
              <a:t> </a:t>
            </a:r>
            <a:r>
              <a:rPr lang="en-US" sz="834" dirty="0">
                <a:solidFill>
                  <a:srgbClr val="1A1A1A"/>
                </a:solidFill>
              </a:rPr>
              <a:t>and "Affordable" categories, confirming that </a:t>
            </a:r>
            <a:r>
              <a:rPr lang="en-US" sz="834" b="1" dirty="0">
                <a:solidFill>
                  <a:srgbClr val="1A1A1A"/>
                </a:solidFill>
              </a:rPr>
              <a:t>Value for Money </a:t>
            </a:r>
            <a:r>
              <a:rPr lang="en-US" sz="834" dirty="0">
                <a:solidFill>
                  <a:srgbClr val="1A1A1A"/>
                </a:solidFill>
              </a:rPr>
              <a:t>is the primary market driver.</a:t>
            </a:r>
            <a:endParaRPr lang="en-US" sz="834" dirty="0"/>
          </a:p>
        </p:txBody>
      </p:sp>
      <p:pic>
        <p:nvPicPr>
          <p:cNvPr id="38" name="Google Shape;174;p7">
            <a:extLst>
              <a:ext uri="{FF2B5EF4-FFF2-40B4-BE49-F238E27FC236}">
                <a16:creationId xmlns:a16="http://schemas.microsoft.com/office/drawing/2014/main" id="{3A344BBD-6B8F-447A-BB21-E3E0B0A41424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583190" y="1372939"/>
            <a:ext cx="4446510" cy="2488875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76200" cap="sq" cmpd="sng">
            <a:solidFill>
              <a:srgbClr val="336EA8"/>
            </a:solidFill>
            <a:prstDash val="solid"/>
            <a:miter lim="800000"/>
            <a:headEnd type="none" w="sm" len="sm"/>
            <a:tailEnd type="none" w="sm" len="sm"/>
          </a:ln>
          <a:effectLst>
            <a:reflection stA="28000" endPos="28000" dist="5000" dir="5400000" sy="-100000" algn="bl" rotWithShape="0"/>
          </a:effectLst>
        </p:spPr>
      </p:pic>
      <p:pic>
        <p:nvPicPr>
          <p:cNvPr id="35" name="Picture 34">
            <a:extLst>
              <a:ext uri="{FF2B5EF4-FFF2-40B4-BE49-F238E27FC236}">
                <a16:creationId xmlns:a16="http://schemas.microsoft.com/office/drawing/2014/main" id="{F30FFA92-5F52-456A-B7F3-6C0BB824430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22956" y="1402947"/>
            <a:ext cx="4366264" cy="2430866"/>
          </a:xfrm>
          <a:prstGeom prst="rect">
            <a:avLst/>
          </a:prstGeom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786C7EF3-75D4-40CA-AF52-56A5AA56EAE3}"/>
              </a:ext>
            </a:extLst>
          </p:cNvPr>
          <p:cNvSpPr txBox="1"/>
          <p:nvPr/>
        </p:nvSpPr>
        <p:spPr>
          <a:xfrm>
            <a:off x="8234363" y="4792979"/>
            <a:ext cx="338138" cy="261610"/>
          </a:xfrm>
          <a:prstGeom prst="rect">
            <a:avLst/>
          </a:prstGeom>
          <a:solidFill>
            <a:srgbClr val="1869A6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bg1"/>
                </a:solidFill>
              </a:rPr>
              <a:t>3</a:t>
            </a:r>
          </a:p>
        </p:txBody>
      </p:sp>
      <p:grpSp>
        <p:nvGrpSpPr>
          <p:cNvPr id="39" name="Group 38">
            <a:extLst>
              <a:ext uri="{FF2B5EF4-FFF2-40B4-BE49-F238E27FC236}">
                <a16:creationId xmlns:a16="http://schemas.microsoft.com/office/drawing/2014/main" id="{31180136-F30D-40FA-97FA-7B032F2E2EE2}"/>
              </a:ext>
            </a:extLst>
          </p:cNvPr>
          <p:cNvGrpSpPr/>
          <p:nvPr/>
        </p:nvGrpSpPr>
        <p:grpSpPr>
          <a:xfrm>
            <a:off x="6703435" y="4539866"/>
            <a:ext cx="1223665" cy="562602"/>
            <a:chOff x="6703435" y="4539866"/>
            <a:chExt cx="1223665" cy="562602"/>
          </a:xfrm>
        </p:grpSpPr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F068BE3E-FEA0-43C3-8C7A-6B87BB82965D}"/>
                </a:ext>
              </a:extLst>
            </p:cNvPr>
            <p:cNvSpPr txBox="1"/>
            <p:nvPr/>
          </p:nvSpPr>
          <p:spPr>
            <a:xfrm>
              <a:off x="6703435" y="4539866"/>
              <a:ext cx="1160318" cy="562602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endParaRPr lang="en-US" dirty="0"/>
            </a:p>
          </p:txBody>
        </p:sp>
        <p:pic>
          <p:nvPicPr>
            <p:cNvPr id="41" name="Picture 40">
              <a:extLst>
                <a:ext uri="{FF2B5EF4-FFF2-40B4-BE49-F238E27FC236}">
                  <a16:creationId xmlns:a16="http://schemas.microsoft.com/office/drawing/2014/main" id="{52FDC355-1132-4EA5-A998-1C4E2AFB22C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6992144" y="4792979"/>
              <a:ext cx="934956" cy="242765"/>
            </a:xfrm>
            <a:prstGeom prst="rect">
              <a:avLst/>
            </a:prstGeom>
            <a:noFill/>
          </p:spPr>
        </p:pic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2" name="Picture 51">
            <a:extLst>
              <a:ext uri="{FF2B5EF4-FFF2-40B4-BE49-F238E27FC236}">
                <a16:creationId xmlns:a16="http://schemas.microsoft.com/office/drawing/2014/main" id="{ACD2F6EF-B07A-488A-90CF-ED05702912C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1500" y="714375"/>
            <a:ext cx="8001000" cy="362545"/>
          </a:xfrm>
          <a:prstGeom prst="rect">
            <a:avLst/>
          </a:prstGeom>
          <a:noFill/>
          <a:ln/>
        </p:spPr>
        <p:txBody>
          <a:bodyPr wrap="none" lIns="0" tIns="0" rIns="0" bIns="42545" rtlCol="0" anchor="t">
            <a:spAutoFit/>
          </a:bodyPr>
          <a:lstStyle/>
          <a:p>
            <a:pPr marL="0" indent="0" algn="l">
              <a:lnSpc>
                <a:spcPts val="2200"/>
              </a:lnSpc>
              <a:buNone/>
            </a:pPr>
            <a:r>
              <a:rPr lang="en-US" sz="1602" b="1" dirty="0">
                <a:solidFill>
                  <a:srgbClr val="1A1A1A"/>
                </a:solidFill>
              </a:rPr>
              <a:t>Market Segmentation &amp; Key Findings</a:t>
            </a:r>
            <a:endParaRPr lang="en-US" sz="1602" dirty="0"/>
          </a:p>
        </p:txBody>
      </p:sp>
      <p:sp>
        <p:nvSpPr>
          <p:cNvPr id="4" name="Text 1"/>
          <p:cNvSpPr/>
          <p:nvPr/>
        </p:nvSpPr>
        <p:spPr>
          <a:xfrm>
            <a:off x="571500" y="1326952"/>
            <a:ext cx="3857625" cy="23395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193" b="1" dirty="0">
                <a:solidFill>
                  <a:srgbClr val="336EA8"/>
                </a:solidFill>
              </a:rPr>
              <a:t>Top 5 Brands by Volume</a:t>
            </a:r>
            <a:endParaRPr lang="en-US" sz="1193" dirty="0"/>
          </a:p>
        </p:txBody>
      </p:sp>
      <p:sp>
        <p:nvSpPr>
          <p:cNvPr id="5" name="Shape 2"/>
          <p:cNvSpPr/>
          <p:nvPr/>
        </p:nvSpPr>
        <p:spPr>
          <a:xfrm>
            <a:off x="571500" y="1632347"/>
            <a:ext cx="1846408" cy="216098"/>
          </a:xfrm>
          <a:prstGeom prst="rect">
            <a:avLst/>
          </a:prstGeom>
          <a:solidFill>
            <a:srgbClr val="336EA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571500" y="1841302"/>
            <a:ext cx="1846408" cy="7144"/>
          </a:xfrm>
          <a:prstGeom prst="rect">
            <a:avLst/>
          </a:prstGeom>
          <a:solidFill>
            <a:srgbClr val="DDDDD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571500" y="1632347"/>
            <a:ext cx="1846408" cy="216098"/>
          </a:xfrm>
          <a:prstGeom prst="rect">
            <a:avLst/>
          </a:prstGeom>
          <a:noFill/>
          <a:ln/>
        </p:spPr>
        <p:txBody>
          <a:bodyPr wrap="square" lIns="102108" tIns="34036" rIns="102108" bIns="34036" rtlCol="0" anchor="ctr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784" b="1" dirty="0">
                <a:solidFill>
                  <a:srgbClr val="FFFFFF"/>
                </a:solidFill>
              </a:rPr>
              <a:t>Brand</a:t>
            </a:r>
            <a:endParaRPr lang="en-US" sz="784" dirty="0"/>
          </a:p>
        </p:txBody>
      </p:sp>
      <p:sp>
        <p:nvSpPr>
          <p:cNvPr id="8" name="Shape 5"/>
          <p:cNvSpPr/>
          <p:nvPr/>
        </p:nvSpPr>
        <p:spPr>
          <a:xfrm>
            <a:off x="2417908" y="1632347"/>
            <a:ext cx="2011217" cy="216098"/>
          </a:xfrm>
          <a:prstGeom prst="rect">
            <a:avLst/>
          </a:prstGeom>
          <a:solidFill>
            <a:srgbClr val="336EA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Shape 6"/>
          <p:cNvSpPr/>
          <p:nvPr/>
        </p:nvSpPr>
        <p:spPr>
          <a:xfrm>
            <a:off x="2417908" y="1841302"/>
            <a:ext cx="2011217" cy="7144"/>
          </a:xfrm>
          <a:prstGeom prst="rect">
            <a:avLst/>
          </a:prstGeom>
          <a:solidFill>
            <a:srgbClr val="DDDDD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2417908" y="1632347"/>
            <a:ext cx="2011217" cy="216098"/>
          </a:xfrm>
          <a:prstGeom prst="rect">
            <a:avLst/>
          </a:prstGeom>
          <a:noFill/>
          <a:ln/>
        </p:spPr>
        <p:txBody>
          <a:bodyPr wrap="square" lIns="102108" tIns="34036" rIns="102108" bIns="34036" rtlCol="0" anchor="ctr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784" b="1" dirty="0">
                <a:solidFill>
                  <a:srgbClr val="FFFFFF"/>
                </a:solidFill>
              </a:rPr>
              <a:t>Units Sold</a:t>
            </a:r>
            <a:endParaRPr lang="en-US" sz="784" dirty="0"/>
          </a:p>
        </p:txBody>
      </p:sp>
      <p:sp>
        <p:nvSpPr>
          <p:cNvPr id="11" name="Text 8"/>
          <p:cNvSpPr/>
          <p:nvPr/>
        </p:nvSpPr>
        <p:spPr>
          <a:xfrm>
            <a:off x="571500" y="1844873"/>
            <a:ext cx="1846408" cy="216098"/>
          </a:xfrm>
          <a:prstGeom prst="rect">
            <a:avLst/>
          </a:prstGeom>
          <a:noFill/>
          <a:ln/>
        </p:spPr>
        <p:txBody>
          <a:bodyPr wrap="square" lIns="102108" tIns="34036" rIns="102108" bIns="34036" rtlCol="0" anchor="ctr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834" dirty="0">
                <a:solidFill>
                  <a:srgbClr val="1A1A1A"/>
                </a:solidFill>
              </a:rPr>
              <a:t>Hyundai</a:t>
            </a:r>
            <a:endParaRPr lang="en-US" sz="834" dirty="0"/>
          </a:p>
        </p:txBody>
      </p:sp>
      <p:sp>
        <p:nvSpPr>
          <p:cNvPr id="12" name="Text 9"/>
          <p:cNvSpPr/>
          <p:nvPr/>
        </p:nvSpPr>
        <p:spPr>
          <a:xfrm>
            <a:off x="2417908" y="1844873"/>
            <a:ext cx="2011217" cy="216098"/>
          </a:xfrm>
          <a:prstGeom prst="rect">
            <a:avLst/>
          </a:prstGeom>
          <a:noFill/>
          <a:ln/>
        </p:spPr>
        <p:txBody>
          <a:bodyPr wrap="square" lIns="102108" tIns="34036" rIns="102108" bIns="34036" rtlCol="0" anchor="ctr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834" dirty="0">
                <a:solidFill>
                  <a:srgbClr val="1A1A1A"/>
                </a:solidFill>
              </a:rPr>
              <a:t>6,500</a:t>
            </a:r>
            <a:endParaRPr lang="en-US" sz="834" dirty="0"/>
          </a:p>
        </p:txBody>
      </p:sp>
      <p:sp>
        <p:nvSpPr>
          <p:cNvPr id="13" name="Shape 10"/>
          <p:cNvSpPr/>
          <p:nvPr/>
        </p:nvSpPr>
        <p:spPr>
          <a:xfrm>
            <a:off x="571500" y="2060972"/>
            <a:ext cx="3857625" cy="21967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/>
          <p:nvPr/>
        </p:nvSpPr>
        <p:spPr>
          <a:xfrm>
            <a:off x="571500" y="2060972"/>
            <a:ext cx="1846408" cy="219670"/>
          </a:xfrm>
          <a:prstGeom prst="rect">
            <a:avLst/>
          </a:prstGeom>
          <a:noFill/>
          <a:ln/>
        </p:spPr>
        <p:txBody>
          <a:bodyPr wrap="square" lIns="102108" tIns="34036" rIns="102108" bIns="34036" rtlCol="0" anchor="ctr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834" dirty="0">
                <a:solidFill>
                  <a:srgbClr val="1A1A1A"/>
                </a:solidFill>
              </a:rPr>
              <a:t>Fiat</a:t>
            </a:r>
            <a:endParaRPr lang="en-US" sz="834" dirty="0"/>
          </a:p>
        </p:txBody>
      </p:sp>
      <p:sp>
        <p:nvSpPr>
          <p:cNvPr id="15" name="Text 12"/>
          <p:cNvSpPr/>
          <p:nvPr/>
        </p:nvSpPr>
        <p:spPr>
          <a:xfrm>
            <a:off x="2417908" y="2060972"/>
            <a:ext cx="2011217" cy="219670"/>
          </a:xfrm>
          <a:prstGeom prst="rect">
            <a:avLst/>
          </a:prstGeom>
          <a:noFill/>
          <a:ln/>
        </p:spPr>
        <p:txBody>
          <a:bodyPr wrap="square" lIns="102108" tIns="34036" rIns="102108" bIns="34036" rtlCol="0" anchor="ctr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834" dirty="0">
                <a:solidFill>
                  <a:srgbClr val="1A1A1A"/>
                </a:solidFill>
              </a:rPr>
              <a:t>6,200</a:t>
            </a:r>
            <a:endParaRPr lang="en-US" sz="834" dirty="0"/>
          </a:p>
        </p:txBody>
      </p:sp>
      <p:sp>
        <p:nvSpPr>
          <p:cNvPr id="16" name="Text 13"/>
          <p:cNvSpPr/>
          <p:nvPr/>
        </p:nvSpPr>
        <p:spPr>
          <a:xfrm>
            <a:off x="571500" y="2280642"/>
            <a:ext cx="1846408" cy="219670"/>
          </a:xfrm>
          <a:prstGeom prst="rect">
            <a:avLst/>
          </a:prstGeom>
          <a:noFill/>
          <a:ln/>
        </p:spPr>
        <p:txBody>
          <a:bodyPr wrap="square" lIns="102108" tIns="34036" rIns="102108" bIns="34036" rtlCol="0" anchor="ctr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834" dirty="0">
                <a:solidFill>
                  <a:srgbClr val="1A1A1A"/>
                </a:solidFill>
              </a:rPr>
              <a:t>Chevrolet</a:t>
            </a:r>
            <a:endParaRPr lang="en-US" sz="834" dirty="0"/>
          </a:p>
        </p:txBody>
      </p:sp>
      <p:sp>
        <p:nvSpPr>
          <p:cNvPr id="17" name="Text 14"/>
          <p:cNvSpPr/>
          <p:nvPr/>
        </p:nvSpPr>
        <p:spPr>
          <a:xfrm>
            <a:off x="2417908" y="2280642"/>
            <a:ext cx="2011217" cy="219670"/>
          </a:xfrm>
          <a:prstGeom prst="rect">
            <a:avLst/>
          </a:prstGeom>
          <a:noFill/>
          <a:ln/>
        </p:spPr>
        <p:txBody>
          <a:bodyPr wrap="square" lIns="102108" tIns="34036" rIns="102108" bIns="34036" rtlCol="0" anchor="ctr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834" dirty="0">
                <a:solidFill>
                  <a:srgbClr val="1A1A1A"/>
                </a:solidFill>
              </a:rPr>
              <a:t>5,300</a:t>
            </a:r>
            <a:endParaRPr lang="en-US" sz="834" dirty="0"/>
          </a:p>
        </p:txBody>
      </p:sp>
      <p:sp>
        <p:nvSpPr>
          <p:cNvPr id="18" name="Shape 15"/>
          <p:cNvSpPr/>
          <p:nvPr/>
        </p:nvSpPr>
        <p:spPr>
          <a:xfrm>
            <a:off x="571500" y="2500313"/>
            <a:ext cx="3857625" cy="21967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6"/>
          <p:cNvSpPr/>
          <p:nvPr/>
        </p:nvSpPr>
        <p:spPr>
          <a:xfrm>
            <a:off x="571500" y="2500313"/>
            <a:ext cx="1846408" cy="219670"/>
          </a:xfrm>
          <a:prstGeom prst="rect">
            <a:avLst/>
          </a:prstGeom>
          <a:noFill/>
          <a:ln/>
        </p:spPr>
        <p:txBody>
          <a:bodyPr wrap="square" lIns="102108" tIns="34036" rIns="102108" bIns="34036" rtlCol="0" anchor="ctr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834" dirty="0">
                <a:solidFill>
                  <a:srgbClr val="1A1A1A"/>
                </a:solidFill>
              </a:rPr>
              <a:t>Nissan</a:t>
            </a:r>
            <a:endParaRPr lang="en-US" sz="834" dirty="0"/>
          </a:p>
        </p:txBody>
      </p:sp>
      <p:sp>
        <p:nvSpPr>
          <p:cNvPr id="20" name="Text 17"/>
          <p:cNvSpPr/>
          <p:nvPr/>
        </p:nvSpPr>
        <p:spPr>
          <a:xfrm>
            <a:off x="2417908" y="2500313"/>
            <a:ext cx="2011217" cy="219670"/>
          </a:xfrm>
          <a:prstGeom prst="rect">
            <a:avLst/>
          </a:prstGeom>
          <a:noFill/>
          <a:ln/>
        </p:spPr>
        <p:txBody>
          <a:bodyPr wrap="square" lIns="102108" tIns="34036" rIns="102108" bIns="34036" rtlCol="0" anchor="ctr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834" dirty="0">
                <a:solidFill>
                  <a:srgbClr val="1A1A1A"/>
                </a:solidFill>
              </a:rPr>
              <a:t>1,100</a:t>
            </a:r>
            <a:endParaRPr lang="en-US" sz="834" dirty="0"/>
          </a:p>
        </p:txBody>
      </p:sp>
      <p:sp>
        <p:nvSpPr>
          <p:cNvPr id="21" name="Text 18"/>
          <p:cNvSpPr/>
          <p:nvPr/>
        </p:nvSpPr>
        <p:spPr>
          <a:xfrm>
            <a:off x="571500" y="2719983"/>
            <a:ext cx="1846408" cy="219670"/>
          </a:xfrm>
          <a:prstGeom prst="rect">
            <a:avLst/>
          </a:prstGeom>
          <a:noFill/>
          <a:ln/>
        </p:spPr>
        <p:txBody>
          <a:bodyPr wrap="square" lIns="102108" tIns="34036" rIns="102108" bIns="34036" rtlCol="0" anchor="ctr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834" dirty="0">
                <a:solidFill>
                  <a:srgbClr val="1A1A1A"/>
                </a:solidFill>
              </a:rPr>
              <a:t>Kia</a:t>
            </a:r>
            <a:endParaRPr lang="en-US" sz="834" dirty="0"/>
          </a:p>
        </p:txBody>
      </p:sp>
      <p:sp>
        <p:nvSpPr>
          <p:cNvPr id="22" name="Text 19"/>
          <p:cNvSpPr/>
          <p:nvPr/>
        </p:nvSpPr>
        <p:spPr>
          <a:xfrm>
            <a:off x="2417908" y="2719983"/>
            <a:ext cx="2011217" cy="219670"/>
          </a:xfrm>
          <a:prstGeom prst="rect">
            <a:avLst/>
          </a:prstGeom>
          <a:noFill/>
          <a:ln/>
        </p:spPr>
        <p:txBody>
          <a:bodyPr wrap="square" lIns="102108" tIns="34036" rIns="102108" bIns="34036" rtlCol="0" anchor="ctr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834" dirty="0">
                <a:solidFill>
                  <a:srgbClr val="1A1A1A"/>
                </a:solidFill>
              </a:rPr>
              <a:t>1,100</a:t>
            </a:r>
            <a:endParaRPr lang="en-US" sz="834" dirty="0"/>
          </a:p>
        </p:txBody>
      </p:sp>
      <p:sp>
        <p:nvSpPr>
          <p:cNvPr id="23" name="Text 20"/>
          <p:cNvSpPr/>
          <p:nvPr/>
        </p:nvSpPr>
        <p:spPr>
          <a:xfrm>
            <a:off x="571500" y="3050381"/>
            <a:ext cx="1404231" cy="19428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193" b="1" dirty="0">
                <a:solidFill>
                  <a:srgbClr val="336EA8"/>
                </a:solidFill>
              </a:rPr>
              <a:t>Top 3 Models by Sales</a:t>
            </a:r>
            <a:endParaRPr lang="en-US" sz="1193" dirty="0"/>
          </a:p>
        </p:txBody>
      </p:sp>
      <p:sp>
        <p:nvSpPr>
          <p:cNvPr id="24" name="Shape 21"/>
          <p:cNvSpPr/>
          <p:nvPr/>
        </p:nvSpPr>
        <p:spPr>
          <a:xfrm>
            <a:off x="571500" y="3355777"/>
            <a:ext cx="1637733" cy="216098"/>
          </a:xfrm>
          <a:prstGeom prst="rect">
            <a:avLst/>
          </a:prstGeom>
          <a:solidFill>
            <a:srgbClr val="336EA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Shape 22"/>
          <p:cNvSpPr/>
          <p:nvPr/>
        </p:nvSpPr>
        <p:spPr>
          <a:xfrm>
            <a:off x="571500" y="3564731"/>
            <a:ext cx="1637733" cy="7144"/>
          </a:xfrm>
          <a:prstGeom prst="rect">
            <a:avLst/>
          </a:prstGeom>
          <a:solidFill>
            <a:srgbClr val="DDDDD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3"/>
          <p:cNvSpPr/>
          <p:nvPr/>
        </p:nvSpPr>
        <p:spPr>
          <a:xfrm>
            <a:off x="571500" y="3355777"/>
            <a:ext cx="1637733" cy="216098"/>
          </a:xfrm>
          <a:prstGeom prst="rect">
            <a:avLst/>
          </a:prstGeom>
          <a:noFill/>
          <a:ln/>
        </p:spPr>
        <p:txBody>
          <a:bodyPr wrap="square" lIns="102108" tIns="34036" rIns="102108" bIns="34036" rtlCol="0" anchor="ctr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784" b="1" dirty="0">
                <a:solidFill>
                  <a:srgbClr val="FFFFFF"/>
                </a:solidFill>
              </a:rPr>
              <a:t>Model</a:t>
            </a:r>
            <a:endParaRPr lang="en-US" sz="784" dirty="0"/>
          </a:p>
        </p:txBody>
      </p:sp>
      <p:sp>
        <p:nvSpPr>
          <p:cNvPr id="27" name="Shape 24"/>
          <p:cNvSpPr/>
          <p:nvPr/>
        </p:nvSpPr>
        <p:spPr>
          <a:xfrm>
            <a:off x="2209233" y="3355777"/>
            <a:ext cx="2219892" cy="216098"/>
          </a:xfrm>
          <a:prstGeom prst="rect">
            <a:avLst/>
          </a:prstGeom>
          <a:solidFill>
            <a:srgbClr val="336EA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Shape 25"/>
          <p:cNvSpPr/>
          <p:nvPr/>
        </p:nvSpPr>
        <p:spPr>
          <a:xfrm>
            <a:off x="2209233" y="3564731"/>
            <a:ext cx="2219892" cy="7144"/>
          </a:xfrm>
          <a:prstGeom prst="rect">
            <a:avLst/>
          </a:prstGeom>
          <a:solidFill>
            <a:srgbClr val="DDDDD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6"/>
          <p:cNvSpPr/>
          <p:nvPr/>
        </p:nvSpPr>
        <p:spPr>
          <a:xfrm>
            <a:off x="2430213" y="3355777"/>
            <a:ext cx="2219892" cy="216098"/>
          </a:xfrm>
          <a:prstGeom prst="rect">
            <a:avLst/>
          </a:prstGeom>
          <a:noFill/>
          <a:ln/>
        </p:spPr>
        <p:txBody>
          <a:bodyPr wrap="square" lIns="102108" tIns="34036" rIns="102108" bIns="34036" rtlCol="0" anchor="ctr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784" b="1" dirty="0">
                <a:solidFill>
                  <a:srgbClr val="FFFFFF"/>
                </a:solidFill>
              </a:rPr>
              <a:t>Units Sold</a:t>
            </a:r>
            <a:endParaRPr lang="en-US" sz="784" dirty="0"/>
          </a:p>
        </p:txBody>
      </p:sp>
      <p:sp>
        <p:nvSpPr>
          <p:cNvPr id="30" name="Text 27"/>
          <p:cNvSpPr/>
          <p:nvPr/>
        </p:nvSpPr>
        <p:spPr>
          <a:xfrm>
            <a:off x="571500" y="3574946"/>
            <a:ext cx="1637733" cy="202812"/>
          </a:xfrm>
          <a:prstGeom prst="rect">
            <a:avLst/>
          </a:prstGeom>
          <a:noFill/>
          <a:ln/>
        </p:spPr>
        <p:txBody>
          <a:bodyPr wrap="square" lIns="102108" tIns="34036" rIns="102108" bIns="34036" rtlCol="0" anchor="ctr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834" dirty="0">
                <a:solidFill>
                  <a:srgbClr val="1A1A1A"/>
                </a:solidFill>
              </a:rPr>
              <a:t>Lanos</a:t>
            </a:r>
            <a:endParaRPr lang="en-US" sz="834" dirty="0"/>
          </a:p>
        </p:txBody>
      </p:sp>
      <p:sp>
        <p:nvSpPr>
          <p:cNvPr id="31" name="Text 28"/>
          <p:cNvSpPr/>
          <p:nvPr/>
        </p:nvSpPr>
        <p:spPr>
          <a:xfrm>
            <a:off x="2460693" y="3568303"/>
            <a:ext cx="2219892" cy="216098"/>
          </a:xfrm>
          <a:prstGeom prst="rect">
            <a:avLst/>
          </a:prstGeom>
          <a:noFill/>
          <a:ln/>
        </p:spPr>
        <p:txBody>
          <a:bodyPr wrap="square" lIns="102108" tIns="34036" rIns="102108" bIns="34036" rtlCol="0" anchor="ctr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834" dirty="0">
                <a:solidFill>
                  <a:srgbClr val="1A1A1A"/>
                </a:solidFill>
              </a:rPr>
              <a:t>2,652</a:t>
            </a:r>
            <a:endParaRPr lang="en-US" sz="834" dirty="0"/>
          </a:p>
        </p:txBody>
      </p:sp>
      <p:sp>
        <p:nvSpPr>
          <p:cNvPr id="32" name="Shape 29"/>
          <p:cNvSpPr/>
          <p:nvPr/>
        </p:nvSpPr>
        <p:spPr>
          <a:xfrm>
            <a:off x="571500" y="3784402"/>
            <a:ext cx="3857625" cy="21967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Text 30"/>
          <p:cNvSpPr/>
          <p:nvPr/>
        </p:nvSpPr>
        <p:spPr>
          <a:xfrm>
            <a:off x="571500" y="3784402"/>
            <a:ext cx="1637733" cy="219670"/>
          </a:xfrm>
          <a:prstGeom prst="rect">
            <a:avLst/>
          </a:prstGeom>
          <a:noFill/>
          <a:ln/>
        </p:spPr>
        <p:txBody>
          <a:bodyPr wrap="square" lIns="102108" tIns="34036" rIns="102108" bIns="34036" rtlCol="0" anchor="ctr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834" dirty="0">
                <a:solidFill>
                  <a:srgbClr val="1A1A1A"/>
                </a:solidFill>
              </a:rPr>
              <a:t>Verna</a:t>
            </a:r>
            <a:endParaRPr lang="en-US" sz="834" dirty="0"/>
          </a:p>
        </p:txBody>
      </p:sp>
      <p:sp>
        <p:nvSpPr>
          <p:cNvPr id="34" name="Text 31"/>
          <p:cNvSpPr/>
          <p:nvPr/>
        </p:nvSpPr>
        <p:spPr>
          <a:xfrm>
            <a:off x="2460693" y="3784402"/>
            <a:ext cx="2219892" cy="219670"/>
          </a:xfrm>
          <a:prstGeom prst="rect">
            <a:avLst/>
          </a:prstGeom>
          <a:noFill/>
          <a:ln/>
        </p:spPr>
        <p:txBody>
          <a:bodyPr wrap="square" lIns="102108" tIns="34036" rIns="102108" bIns="34036" rtlCol="0" anchor="ctr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834" dirty="0">
                <a:solidFill>
                  <a:srgbClr val="1A1A1A"/>
                </a:solidFill>
              </a:rPr>
              <a:t>2,177</a:t>
            </a:r>
            <a:endParaRPr lang="en-US" sz="834" dirty="0"/>
          </a:p>
        </p:txBody>
      </p:sp>
      <p:sp>
        <p:nvSpPr>
          <p:cNvPr id="35" name="Text 32"/>
          <p:cNvSpPr/>
          <p:nvPr/>
        </p:nvSpPr>
        <p:spPr>
          <a:xfrm>
            <a:off x="571500" y="4004072"/>
            <a:ext cx="1637733" cy="219670"/>
          </a:xfrm>
          <a:prstGeom prst="rect">
            <a:avLst/>
          </a:prstGeom>
          <a:noFill/>
          <a:ln/>
        </p:spPr>
        <p:txBody>
          <a:bodyPr wrap="square" lIns="102108" tIns="34036" rIns="102108" bIns="34036" rtlCol="0" anchor="ctr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834" dirty="0">
                <a:solidFill>
                  <a:srgbClr val="1A1A1A"/>
                </a:solidFill>
              </a:rPr>
              <a:t>Optra</a:t>
            </a:r>
            <a:endParaRPr lang="en-US" sz="834" dirty="0"/>
          </a:p>
        </p:txBody>
      </p:sp>
      <p:sp>
        <p:nvSpPr>
          <p:cNvPr id="36" name="Text 33"/>
          <p:cNvSpPr/>
          <p:nvPr/>
        </p:nvSpPr>
        <p:spPr>
          <a:xfrm>
            <a:off x="2460693" y="4004072"/>
            <a:ext cx="2219892" cy="219670"/>
          </a:xfrm>
          <a:prstGeom prst="rect">
            <a:avLst/>
          </a:prstGeom>
          <a:noFill/>
          <a:ln/>
        </p:spPr>
        <p:txBody>
          <a:bodyPr wrap="square" lIns="102108" tIns="34036" rIns="102108" bIns="34036" rtlCol="0" anchor="ctr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834" dirty="0">
                <a:solidFill>
                  <a:srgbClr val="1A1A1A"/>
                </a:solidFill>
              </a:rPr>
              <a:t>1,675</a:t>
            </a:r>
            <a:endParaRPr lang="en-US" sz="834" dirty="0"/>
          </a:p>
        </p:txBody>
      </p:sp>
      <p:sp>
        <p:nvSpPr>
          <p:cNvPr id="42" name="Text 39"/>
          <p:cNvSpPr/>
          <p:nvPr/>
        </p:nvSpPr>
        <p:spPr>
          <a:xfrm>
            <a:off x="4714875" y="1326952"/>
            <a:ext cx="3857625" cy="23395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193" b="1" dirty="0">
                <a:solidFill>
                  <a:srgbClr val="336EA8"/>
                </a:solidFill>
              </a:rPr>
              <a:t>Consumer Preferences</a:t>
            </a:r>
            <a:endParaRPr lang="en-US" sz="1193" dirty="0"/>
          </a:p>
        </p:txBody>
      </p:sp>
      <p:sp>
        <p:nvSpPr>
          <p:cNvPr id="43" name="Text 40"/>
          <p:cNvSpPr/>
          <p:nvPr/>
        </p:nvSpPr>
        <p:spPr>
          <a:xfrm>
            <a:off x="4714875" y="1668066"/>
            <a:ext cx="3857625" cy="17502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885" b="1" dirty="0">
                <a:solidFill>
                  <a:srgbClr val="047954"/>
                </a:solidFill>
              </a:rPr>
              <a:t>Transmission Type</a:t>
            </a:r>
            <a:endParaRPr lang="en-US" sz="885" dirty="0"/>
          </a:p>
        </p:txBody>
      </p:sp>
      <p:sp>
        <p:nvSpPr>
          <p:cNvPr id="44" name="Text 41"/>
          <p:cNvSpPr/>
          <p:nvPr/>
        </p:nvSpPr>
        <p:spPr>
          <a:xfrm>
            <a:off x="4714875" y="1900238"/>
            <a:ext cx="3857625" cy="16000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784" b="1" dirty="0">
                <a:solidFill>
                  <a:srgbClr val="047954"/>
                </a:solidFill>
              </a:rPr>
              <a:t>Manual:</a:t>
            </a:r>
            <a:r>
              <a:rPr lang="en-US" sz="834" dirty="0">
                <a:solidFill>
                  <a:srgbClr val="1A1A1A"/>
                </a:solidFill>
              </a:rPr>
              <a:t> 15,962 units (50.1%)</a:t>
            </a:r>
            <a:endParaRPr lang="en-US" sz="784" dirty="0"/>
          </a:p>
        </p:txBody>
      </p:sp>
      <p:sp>
        <p:nvSpPr>
          <p:cNvPr id="45" name="Text 42"/>
          <p:cNvSpPr/>
          <p:nvPr/>
        </p:nvSpPr>
        <p:spPr>
          <a:xfrm>
            <a:off x="4714875" y="2117396"/>
            <a:ext cx="3857625" cy="16000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784" b="1" dirty="0">
                <a:solidFill>
                  <a:srgbClr val="047954"/>
                </a:solidFill>
              </a:rPr>
              <a:t>Automatic:</a:t>
            </a:r>
            <a:r>
              <a:rPr lang="en-US" sz="834" dirty="0">
                <a:solidFill>
                  <a:srgbClr val="1A1A1A"/>
                </a:solidFill>
              </a:rPr>
              <a:t> 15,881 units (49.9%)</a:t>
            </a:r>
            <a:endParaRPr lang="en-US" sz="784" dirty="0"/>
          </a:p>
        </p:txBody>
      </p:sp>
      <p:sp>
        <p:nvSpPr>
          <p:cNvPr id="46" name="Text 43"/>
          <p:cNvSpPr/>
          <p:nvPr/>
        </p:nvSpPr>
        <p:spPr>
          <a:xfrm>
            <a:off x="4714875" y="2348843"/>
            <a:ext cx="3857625" cy="32001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834" dirty="0">
                <a:solidFill>
                  <a:srgbClr val="1A1A1A"/>
                </a:solidFill>
              </a:rPr>
              <a:t>The near-perfect balance indicates a diverse buyer base with no strong preference for one type over the other.</a:t>
            </a:r>
            <a:endParaRPr lang="en-US" sz="834" dirty="0"/>
          </a:p>
        </p:txBody>
      </p:sp>
      <p:sp>
        <p:nvSpPr>
          <p:cNvPr id="47" name="Text 44"/>
          <p:cNvSpPr/>
          <p:nvPr/>
        </p:nvSpPr>
        <p:spPr>
          <a:xfrm>
            <a:off x="4714875" y="2783160"/>
            <a:ext cx="3857625" cy="17502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885" b="1" dirty="0">
                <a:solidFill>
                  <a:srgbClr val="047954"/>
                </a:solidFill>
              </a:rPr>
              <a:t>Fuel Category</a:t>
            </a:r>
            <a:endParaRPr lang="en-US" sz="885" dirty="0"/>
          </a:p>
        </p:txBody>
      </p:sp>
      <p:sp>
        <p:nvSpPr>
          <p:cNvPr id="48" name="Text 45"/>
          <p:cNvSpPr/>
          <p:nvPr/>
        </p:nvSpPr>
        <p:spPr>
          <a:xfrm>
            <a:off x="4714875" y="3015332"/>
            <a:ext cx="3857625" cy="16000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784" b="1" dirty="0">
                <a:solidFill>
                  <a:srgbClr val="047954"/>
                </a:solidFill>
              </a:rPr>
              <a:t>Benzine:</a:t>
            </a:r>
            <a:r>
              <a:rPr lang="en-US" sz="834" dirty="0">
                <a:solidFill>
                  <a:srgbClr val="1A1A1A"/>
                </a:solidFill>
              </a:rPr>
              <a:t> 96.34%</a:t>
            </a:r>
            <a:endParaRPr lang="en-US" sz="784" dirty="0"/>
          </a:p>
        </p:txBody>
      </p:sp>
      <p:sp>
        <p:nvSpPr>
          <p:cNvPr id="49" name="Text 46"/>
          <p:cNvSpPr/>
          <p:nvPr/>
        </p:nvSpPr>
        <p:spPr>
          <a:xfrm>
            <a:off x="4714875" y="3232491"/>
            <a:ext cx="3857625" cy="16000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784" b="1" dirty="0">
                <a:solidFill>
                  <a:srgbClr val="047954"/>
                </a:solidFill>
              </a:rPr>
              <a:t>Diesel:</a:t>
            </a:r>
            <a:r>
              <a:rPr lang="en-US" sz="834" dirty="0">
                <a:solidFill>
                  <a:srgbClr val="1A1A1A"/>
                </a:solidFill>
              </a:rPr>
              <a:t> 0.88%</a:t>
            </a:r>
            <a:endParaRPr lang="en-US" sz="784" dirty="0"/>
          </a:p>
        </p:txBody>
      </p:sp>
      <p:sp>
        <p:nvSpPr>
          <p:cNvPr id="50" name="Text 47"/>
          <p:cNvSpPr/>
          <p:nvPr/>
        </p:nvSpPr>
        <p:spPr>
          <a:xfrm>
            <a:off x="4714875" y="3449650"/>
            <a:ext cx="3857625" cy="16000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784" b="1" dirty="0">
                <a:solidFill>
                  <a:srgbClr val="047954"/>
                </a:solidFill>
              </a:rPr>
              <a:t>Eco-Friendly:</a:t>
            </a:r>
            <a:r>
              <a:rPr lang="en-US" sz="834" dirty="0">
                <a:solidFill>
                  <a:srgbClr val="1A1A1A"/>
                </a:solidFill>
              </a:rPr>
              <a:t> 2.78%</a:t>
            </a:r>
            <a:endParaRPr lang="en-US" sz="784" dirty="0"/>
          </a:p>
        </p:txBody>
      </p:sp>
      <p:sp>
        <p:nvSpPr>
          <p:cNvPr id="51" name="Text 48"/>
          <p:cNvSpPr/>
          <p:nvPr/>
        </p:nvSpPr>
        <p:spPr>
          <a:xfrm>
            <a:off x="4714875" y="3681096"/>
            <a:ext cx="3857625" cy="32001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834" dirty="0">
                <a:solidFill>
                  <a:srgbClr val="1A1A1A"/>
                </a:solidFill>
              </a:rPr>
              <a:t>Benzine's overwhelming dominance reflects limited adoption of alternative fuels in the used car market.</a:t>
            </a:r>
            <a:endParaRPr lang="en-US" sz="834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2FE6BAFA-6C6A-4E2F-AFBA-45CA78BC0DD0}"/>
              </a:ext>
            </a:extLst>
          </p:cNvPr>
          <p:cNvSpPr txBox="1"/>
          <p:nvPr/>
        </p:nvSpPr>
        <p:spPr>
          <a:xfrm>
            <a:off x="8234363" y="4792979"/>
            <a:ext cx="338138" cy="261610"/>
          </a:xfrm>
          <a:prstGeom prst="rect">
            <a:avLst/>
          </a:prstGeom>
          <a:solidFill>
            <a:srgbClr val="1869A6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bg1"/>
                </a:solidFill>
              </a:rPr>
              <a:t>4</a:t>
            </a:r>
          </a:p>
        </p:txBody>
      </p:sp>
      <p:grpSp>
        <p:nvGrpSpPr>
          <p:cNvPr id="54" name="Group 53">
            <a:extLst>
              <a:ext uri="{FF2B5EF4-FFF2-40B4-BE49-F238E27FC236}">
                <a16:creationId xmlns:a16="http://schemas.microsoft.com/office/drawing/2014/main" id="{35BDC87D-0913-418E-A99B-4E88D40395F4}"/>
              </a:ext>
            </a:extLst>
          </p:cNvPr>
          <p:cNvGrpSpPr/>
          <p:nvPr/>
        </p:nvGrpSpPr>
        <p:grpSpPr>
          <a:xfrm>
            <a:off x="6703435" y="4539866"/>
            <a:ext cx="1223665" cy="562602"/>
            <a:chOff x="6703435" y="4539866"/>
            <a:chExt cx="1223665" cy="562602"/>
          </a:xfrm>
        </p:grpSpPr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8596D7B1-5B91-4B53-A3D0-0E02CC35202D}"/>
                </a:ext>
              </a:extLst>
            </p:cNvPr>
            <p:cNvSpPr txBox="1"/>
            <p:nvPr/>
          </p:nvSpPr>
          <p:spPr>
            <a:xfrm>
              <a:off x="6703435" y="4539866"/>
              <a:ext cx="1160318" cy="562602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endParaRPr lang="en-US" dirty="0"/>
            </a:p>
          </p:txBody>
        </p:sp>
        <p:pic>
          <p:nvPicPr>
            <p:cNvPr id="56" name="Picture 55">
              <a:extLst>
                <a:ext uri="{FF2B5EF4-FFF2-40B4-BE49-F238E27FC236}">
                  <a16:creationId xmlns:a16="http://schemas.microsoft.com/office/drawing/2014/main" id="{46A2385A-7E5E-49C3-91BF-5FD36B318EE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992144" y="4792979"/>
              <a:ext cx="934956" cy="242765"/>
            </a:xfrm>
            <a:prstGeom prst="rect">
              <a:avLst/>
            </a:prstGeom>
            <a:noFill/>
          </p:spPr>
        </p:pic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Picture 24">
            <a:extLst>
              <a:ext uri="{FF2B5EF4-FFF2-40B4-BE49-F238E27FC236}">
                <a16:creationId xmlns:a16="http://schemas.microsoft.com/office/drawing/2014/main" id="{E1ECE8B3-6F9B-4F18-8CA2-5069BF35B9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1500" y="714375"/>
            <a:ext cx="8001000" cy="362545"/>
          </a:xfrm>
          <a:prstGeom prst="rect">
            <a:avLst/>
          </a:prstGeom>
          <a:noFill/>
          <a:ln/>
        </p:spPr>
        <p:txBody>
          <a:bodyPr wrap="none" lIns="0" tIns="0" rIns="0" bIns="42545" rtlCol="0" anchor="t">
            <a:spAutoFit/>
          </a:bodyPr>
          <a:lstStyle/>
          <a:p>
            <a:pPr marL="0" indent="0" algn="l">
              <a:lnSpc>
                <a:spcPts val="2200"/>
              </a:lnSpc>
              <a:buNone/>
            </a:pPr>
            <a:r>
              <a:rPr lang="en-US" sz="1602" b="1" dirty="0">
                <a:solidFill>
                  <a:srgbClr val="1A1A1A"/>
                </a:solidFill>
              </a:rPr>
              <a:t>Data Source &amp; Methodology</a:t>
            </a:r>
            <a:endParaRPr lang="en-US" sz="1602" dirty="0"/>
          </a:p>
        </p:txBody>
      </p:sp>
      <p:sp>
        <p:nvSpPr>
          <p:cNvPr id="4" name="Text 1"/>
          <p:cNvSpPr/>
          <p:nvPr/>
        </p:nvSpPr>
        <p:spPr>
          <a:xfrm>
            <a:off x="571500" y="1219795"/>
            <a:ext cx="8001000" cy="23395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193" b="1" dirty="0">
                <a:solidFill>
                  <a:srgbClr val="336EA8"/>
                </a:solidFill>
              </a:rPr>
              <a:t>Data Source</a:t>
            </a:r>
            <a:endParaRPr lang="en-US" sz="1193" dirty="0"/>
          </a:p>
        </p:txBody>
      </p:sp>
      <p:sp>
        <p:nvSpPr>
          <p:cNvPr id="5" name="Text 2"/>
          <p:cNvSpPr/>
          <p:nvPr/>
        </p:nvSpPr>
        <p:spPr>
          <a:xfrm>
            <a:off x="714375" y="1518047"/>
            <a:ext cx="1026077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834" dirty="0">
                <a:solidFill>
                  <a:srgbClr val="1A1A1A"/>
                </a:solidFill>
              </a:rPr>
              <a:t>CSV file containing</a:t>
            </a:r>
            <a:endParaRPr lang="en-US" sz="834" dirty="0"/>
          </a:p>
        </p:txBody>
      </p:sp>
      <p:sp>
        <p:nvSpPr>
          <p:cNvPr id="6" name="Text 3"/>
          <p:cNvSpPr/>
          <p:nvPr/>
        </p:nvSpPr>
        <p:spPr>
          <a:xfrm>
            <a:off x="1542332" y="1518047"/>
            <a:ext cx="814639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784" b="1" dirty="0">
                <a:solidFill>
                  <a:srgbClr val="047954"/>
                </a:solidFill>
              </a:rPr>
              <a:t>32,000 records</a:t>
            </a:r>
            <a:endParaRPr lang="en-US" sz="784" dirty="0"/>
          </a:p>
        </p:txBody>
      </p:sp>
      <p:sp>
        <p:nvSpPr>
          <p:cNvPr id="7" name="Text 4"/>
          <p:cNvSpPr/>
          <p:nvPr/>
        </p:nvSpPr>
        <p:spPr>
          <a:xfrm>
            <a:off x="2174091" y="1518047"/>
            <a:ext cx="1776924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834" dirty="0">
                <a:solidFill>
                  <a:srgbClr val="1A1A1A"/>
                </a:solidFill>
              </a:rPr>
              <a:t>of used car transactions in Egypt</a:t>
            </a:r>
            <a:endParaRPr lang="en-US" sz="834" dirty="0"/>
          </a:p>
        </p:txBody>
      </p:sp>
      <p:sp>
        <p:nvSpPr>
          <p:cNvPr id="8" name="Text 5"/>
          <p:cNvSpPr/>
          <p:nvPr/>
        </p:nvSpPr>
        <p:spPr>
          <a:xfrm>
            <a:off x="714375" y="1710928"/>
            <a:ext cx="7858125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834" dirty="0">
                <a:solidFill>
                  <a:srgbClr val="1A1A1A"/>
                </a:solidFill>
              </a:rPr>
              <a:t>Data collected from market transactions spanning multiple years (2010-2022)</a:t>
            </a:r>
            <a:endParaRPr lang="en-US" sz="834" dirty="0"/>
          </a:p>
        </p:txBody>
      </p:sp>
      <p:sp>
        <p:nvSpPr>
          <p:cNvPr id="9" name="Text 6"/>
          <p:cNvSpPr/>
          <p:nvPr/>
        </p:nvSpPr>
        <p:spPr>
          <a:xfrm>
            <a:off x="571500" y="1953816"/>
            <a:ext cx="8001000" cy="23395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193" b="1" dirty="0">
                <a:solidFill>
                  <a:srgbClr val="336EA8"/>
                </a:solidFill>
              </a:rPr>
              <a:t>Key Data Fields</a:t>
            </a:r>
            <a:endParaRPr lang="en-US" sz="1193" dirty="0"/>
          </a:p>
        </p:txBody>
      </p:sp>
      <p:sp>
        <p:nvSpPr>
          <p:cNvPr id="10" name="Text 7"/>
          <p:cNvSpPr/>
          <p:nvPr/>
        </p:nvSpPr>
        <p:spPr>
          <a:xfrm>
            <a:off x="714375" y="2244923"/>
            <a:ext cx="7858125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834" dirty="0">
                <a:solidFill>
                  <a:srgbClr val="1A1A1A"/>
                </a:solidFill>
              </a:rPr>
              <a:t>Brand, Model, Year, Final Price, Transmission Type, Fuel Category, Classification, Color, Governorate, Engine Size</a:t>
            </a:r>
            <a:endParaRPr lang="en-US" sz="834" dirty="0"/>
          </a:p>
        </p:txBody>
      </p:sp>
      <p:sp>
        <p:nvSpPr>
          <p:cNvPr id="11" name="Text 8"/>
          <p:cNvSpPr/>
          <p:nvPr/>
        </p:nvSpPr>
        <p:spPr>
          <a:xfrm>
            <a:off x="714375" y="2444948"/>
            <a:ext cx="7858125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834" dirty="0">
                <a:solidFill>
                  <a:srgbClr val="1A1A1A"/>
                </a:solidFill>
              </a:rPr>
              <a:t>Balanced dataset with no single brand dominating the data collection process</a:t>
            </a:r>
            <a:endParaRPr lang="en-US" sz="834" dirty="0"/>
          </a:p>
        </p:txBody>
      </p:sp>
      <p:sp>
        <p:nvSpPr>
          <p:cNvPr id="12" name="Text 9"/>
          <p:cNvSpPr/>
          <p:nvPr/>
        </p:nvSpPr>
        <p:spPr>
          <a:xfrm>
            <a:off x="571500" y="2687836"/>
            <a:ext cx="8001000" cy="23395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193" b="1" dirty="0">
                <a:solidFill>
                  <a:srgbClr val="336EA8"/>
                </a:solidFill>
              </a:rPr>
              <a:t>Data Cleaning &amp; Preparation</a:t>
            </a:r>
            <a:endParaRPr lang="en-US" sz="1193" dirty="0"/>
          </a:p>
        </p:txBody>
      </p:sp>
      <p:sp>
        <p:nvSpPr>
          <p:cNvPr id="13" name="Text 10"/>
          <p:cNvSpPr/>
          <p:nvPr/>
        </p:nvSpPr>
        <p:spPr>
          <a:xfrm>
            <a:off x="714375" y="2978944"/>
            <a:ext cx="7858125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834" dirty="0">
                <a:solidFill>
                  <a:srgbClr val="1A1A1A"/>
                </a:solidFill>
              </a:rPr>
              <a:t>Handling missing values and standardizing data formats (e.g., price normalization to EGP)</a:t>
            </a:r>
            <a:endParaRPr lang="en-US" sz="834" dirty="0"/>
          </a:p>
        </p:txBody>
      </p:sp>
      <p:sp>
        <p:nvSpPr>
          <p:cNvPr id="14" name="Text 11"/>
          <p:cNvSpPr/>
          <p:nvPr/>
        </p:nvSpPr>
        <p:spPr>
          <a:xfrm>
            <a:off x="714375" y="3178969"/>
            <a:ext cx="7858125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834" dirty="0">
                <a:solidFill>
                  <a:srgbClr val="1A1A1A"/>
                </a:solidFill>
              </a:rPr>
              <a:t>Categorizing vehicles into price segments: Cheap, Affordable, Mid-range, Expensive, Extreme</a:t>
            </a:r>
            <a:endParaRPr lang="en-US" sz="834" dirty="0"/>
          </a:p>
        </p:txBody>
      </p:sp>
      <p:sp>
        <p:nvSpPr>
          <p:cNvPr id="15" name="Text 12"/>
          <p:cNvSpPr/>
          <p:nvPr/>
        </p:nvSpPr>
        <p:spPr>
          <a:xfrm>
            <a:off x="714375" y="3378994"/>
            <a:ext cx="7858125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834" dirty="0">
                <a:solidFill>
                  <a:srgbClr val="1A1A1A"/>
                </a:solidFill>
              </a:rPr>
              <a:t>Classification of vehicle condition: Heavily Used, Moderately Used, Lightly Used, Nearly New</a:t>
            </a:r>
            <a:endParaRPr lang="en-US" sz="834" dirty="0"/>
          </a:p>
        </p:txBody>
      </p:sp>
      <p:sp>
        <p:nvSpPr>
          <p:cNvPr id="16" name="Text 13"/>
          <p:cNvSpPr/>
          <p:nvPr/>
        </p:nvSpPr>
        <p:spPr>
          <a:xfrm>
            <a:off x="571500" y="3621881"/>
            <a:ext cx="8001000" cy="23395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193" b="1" dirty="0">
                <a:solidFill>
                  <a:srgbClr val="336EA8"/>
                </a:solidFill>
              </a:rPr>
              <a:t>Key Metrics (KPIs)</a:t>
            </a:r>
            <a:endParaRPr lang="en-US" sz="1193" dirty="0"/>
          </a:p>
        </p:txBody>
      </p:sp>
      <p:sp>
        <p:nvSpPr>
          <p:cNvPr id="17" name="Text 14"/>
          <p:cNvSpPr/>
          <p:nvPr/>
        </p:nvSpPr>
        <p:spPr>
          <a:xfrm>
            <a:off x="714375" y="3920133"/>
            <a:ext cx="1098212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784" b="1" dirty="0">
                <a:solidFill>
                  <a:srgbClr val="047954"/>
                </a:solidFill>
              </a:rPr>
              <a:t>Total Sales Volume:</a:t>
            </a:r>
            <a:endParaRPr lang="en-US" sz="784" dirty="0"/>
          </a:p>
        </p:txBody>
      </p:sp>
      <p:sp>
        <p:nvSpPr>
          <p:cNvPr id="18" name="Text 15"/>
          <p:cNvSpPr/>
          <p:nvPr/>
        </p:nvSpPr>
        <p:spPr>
          <a:xfrm>
            <a:off x="1919267" y="3920133"/>
            <a:ext cx="683763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834" dirty="0">
                <a:solidFill>
                  <a:srgbClr val="1A1A1A"/>
                </a:solidFill>
              </a:rPr>
              <a:t>32,000 units</a:t>
            </a:r>
            <a:endParaRPr lang="en-US" sz="834" dirty="0"/>
          </a:p>
        </p:txBody>
      </p:sp>
      <p:sp>
        <p:nvSpPr>
          <p:cNvPr id="19" name="Text 16"/>
          <p:cNvSpPr/>
          <p:nvPr/>
        </p:nvSpPr>
        <p:spPr>
          <a:xfrm>
            <a:off x="714375" y="4120158"/>
            <a:ext cx="974536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784" b="1" dirty="0">
                <a:solidFill>
                  <a:srgbClr val="047954"/>
                </a:solidFill>
              </a:rPr>
              <a:t>Average Car Age:</a:t>
            </a:r>
            <a:endParaRPr lang="en-US" sz="784" dirty="0"/>
          </a:p>
        </p:txBody>
      </p:sp>
      <p:sp>
        <p:nvSpPr>
          <p:cNvPr id="20" name="Text 17"/>
          <p:cNvSpPr/>
          <p:nvPr/>
        </p:nvSpPr>
        <p:spPr>
          <a:xfrm>
            <a:off x="1909891" y="4120158"/>
            <a:ext cx="640426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834" dirty="0">
                <a:solidFill>
                  <a:srgbClr val="1A1A1A"/>
                </a:solidFill>
              </a:rPr>
              <a:t>16.42 years</a:t>
            </a:r>
            <a:endParaRPr lang="en-US" sz="834" dirty="0"/>
          </a:p>
        </p:txBody>
      </p:sp>
      <p:sp>
        <p:nvSpPr>
          <p:cNvPr id="21" name="Text 18"/>
          <p:cNvSpPr/>
          <p:nvPr/>
        </p:nvSpPr>
        <p:spPr>
          <a:xfrm>
            <a:off x="714375" y="4320183"/>
            <a:ext cx="1505238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784" b="1" dirty="0">
                <a:solidFill>
                  <a:srgbClr val="047954"/>
                </a:solidFill>
              </a:rPr>
              <a:t>Market Share by Segment:</a:t>
            </a:r>
            <a:endParaRPr lang="en-US" sz="784" dirty="0"/>
          </a:p>
        </p:txBody>
      </p:sp>
      <p:sp>
        <p:nvSpPr>
          <p:cNvPr id="22" name="Text 19"/>
          <p:cNvSpPr/>
          <p:nvPr/>
        </p:nvSpPr>
        <p:spPr>
          <a:xfrm>
            <a:off x="1922433" y="4320183"/>
            <a:ext cx="4683677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834" dirty="0">
                <a:solidFill>
                  <a:srgbClr val="1A1A1A"/>
                </a:solidFill>
              </a:rPr>
              <a:t>Cheap (65.6%), Affordable (21.6%), Mid-range (10.1%), Expensive (3.1%), Extreme (0.4%)</a:t>
            </a:r>
            <a:endParaRPr lang="en-US" sz="834" dirty="0"/>
          </a:p>
        </p:txBody>
      </p:sp>
      <p:sp>
        <p:nvSpPr>
          <p:cNvPr id="23" name="Text 20"/>
          <p:cNvSpPr/>
          <p:nvPr/>
        </p:nvSpPr>
        <p:spPr>
          <a:xfrm>
            <a:off x="714375" y="4520208"/>
            <a:ext cx="729025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784" b="1" dirty="0">
                <a:solidFill>
                  <a:srgbClr val="047954"/>
                </a:solidFill>
              </a:rPr>
              <a:t>Price Trends:</a:t>
            </a:r>
            <a:endParaRPr lang="en-US" sz="784" dirty="0"/>
          </a:p>
        </p:txBody>
      </p:sp>
      <p:sp>
        <p:nvSpPr>
          <p:cNvPr id="24" name="Text 21"/>
          <p:cNvSpPr/>
          <p:nvPr/>
        </p:nvSpPr>
        <p:spPr>
          <a:xfrm>
            <a:off x="1923460" y="4520208"/>
            <a:ext cx="2915682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834" dirty="0">
                <a:solidFill>
                  <a:srgbClr val="1A1A1A"/>
                </a:solidFill>
              </a:rPr>
              <a:t>Sharp and sustained price increase from 2016 to 2022</a:t>
            </a:r>
            <a:endParaRPr lang="en-US" sz="834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0269858-8748-44F1-AB74-4BA837BC4DFF}"/>
              </a:ext>
            </a:extLst>
          </p:cNvPr>
          <p:cNvSpPr txBox="1"/>
          <p:nvPr/>
        </p:nvSpPr>
        <p:spPr>
          <a:xfrm>
            <a:off x="8234363" y="4792979"/>
            <a:ext cx="338138" cy="261610"/>
          </a:xfrm>
          <a:prstGeom prst="rect">
            <a:avLst/>
          </a:prstGeom>
          <a:solidFill>
            <a:srgbClr val="1869A6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bg1"/>
                </a:solidFill>
              </a:rPr>
              <a:t>5</a:t>
            </a: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A5B7E4A4-B0CD-4C00-8310-75BB67CC6B9F}"/>
              </a:ext>
            </a:extLst>
          </p:cNvPr>
          <p:cNvGrpSpPr/>
          <p:nvPr/>
        </p:nvGrpSpPr>
        <p:grpSpPr>
          <a:xfrm>
            <a:off x="6703435" y="4539866"/>
            <a:ext cx="1223665" cy="562602"/>
            <a:chOff x="6703435" y="4539866"/>
            <a:chExt cx="1223665" cy="562602"/>
          </a:xfrm>
        </p:grpSpPr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D524C1A3-4491-449C-99B8-857F728D38EB}"/>
                </a:ext>
              </a:extLst>
            </p:cNvPr>
            <p:cNvSpPr txBox="1"/>
            <p:nvPr/>
          </p:nvSpPr>
          <p:spPr>
            <a:xfrm>
              <a:off x="6703435" y="4539866"/>
              <a:ext cx="1160318" cy="562602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endParaRPr lang="en-US" dirty="0"/>
            </a:p>
          </p:txBody>
        </p:sp>
        <p:pic>
          <p:nvPicPr>
            <p:cNvPr id="29" name="Picture 28">
              <a:extLst>
                <a:ext uri="{FF2B5EF4-FFF2-40B4-BE49-F238E27FC236}">
                  <a16:creationId xmlns:a16="http://schemas.microsoft.com/office/drawing/2014/main" id="{FCB7C853-C678-485E-B8E3-EAE53BE3107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992144" y="4792979"/>
              <a:ext cx="934956" cy="242765"/>
            </a:xfrm>
            <a:prstGeom prst="rect">
              <a:avLst/>
            </a:prstGeom>
            <a:noFill/>
          </p:spPr>
        </p:pic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Picture 25">
            <a:extLst>
              <a:ext uri="{FF2B5EF4-FFF2-40B4-BE49-F238E27FC236}">
                <a16:creationId xmlns:a16="http://schemas.microsoft.com/office/drawing/2014/main" id="{4B3B0A16-7B62-4088-A3B6-C1FD2DB7DE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1500" y="714375"/>
            <a:ext cx="8001000" cy="362545"/>
          </a:xfrm>
          <a:prstGeom prst="rect">
            <a:avLst/>
          </a:prstGeom>
          <a:noFill/>
          <a:ln/>
        </p:spPr>
        <p:txBody>
          <a:bodyPr wrap="none" lIns="0" tIns="0" rIns="0" bIns="42545" rtlCol="0" anchor="t">
            <a:spAutoFit/>
          </a:bodyPr>
          <a:lstStyle/>
          <a:p>
            <a:pPr marL="0" indent="0" algn="l">
              <a:lnSpc>
                <a:spcPts val="2200"/>
              </a:lnSpc>
              <a:buNone/>
            </a:pPr>
            <a:r>
              <a:rPr lang="en-US" sz="1602" b="1" dirty="0">
                <a:solidFill>
                  <a:srgbClr val="1A1A1A"/>
                </a:solidFill>
              </a:rPr>
              <a:t>Tools &amp; Techniques</a:t>
            </a:r>
            <a:endParaRPr lang="en-US" sz="1602" dirty="0"/>
          </a:p>
        </p:txBody>
      </p:sp>
      <p:sp>
        <p:nvSpPr>
          <p:cNvPr id="4" name="Text 1"/>
          <p:cNvSpPr/>
          <p:nvPr/>
        </p:nvSpPr>
        <p:spPr>
          <a:xfrm>
            <a:off x="571500" y="1219795"/>
            <a:ext cx="8001000" cy="23395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193" b="1" dirty="0">
                <a:solidFill>
                  <a:srgbClr val="336EA8"/>
                </a:solidFill>
              </a:rPr>
              <a:t>Programming Languages &amp; Tools Used</a:t>
            </a:r>
            <a:endParaRPr lang="en-US" sz="1193" dirty="0"/>
          </a:p>
        </p:txBody>
      </p:sp>
      <p:sp>
        <p:nvSpPr>
          <p:cNvPr id="11" name="Text 8"/>
          <p:cNvSpPr/>
          <p:nvPr/>
        </p:nvSpPr>
        <p:spPr>
          <a:xfrm>
            <a:off x="714375" y="1572161"/>
            <a:ext cx="1253226" cy="17502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885" b="1" dirty="0">
                <a:solidFill>
                  <a:srgbClr val="047954"/>
                </a:solidFill>
              </a:rPr>
              <a:t>Microsoft Power BI:</a:t>
            </a:r>
            <a:endParaRPr lang="en-US" sz="885" dirty="0"/>
          </a:p>
        </p:txBody>
      </p:sp>
      <p:sp>
        <p:nvSpPr>
          <p:cNvPr id="12" name="Text 9"/>
          <p:cNvSpPr/>
          <p:nvPr/>
        </p:nvSpPr>
        <p:spPr>
          <a:xfrm>
            <a:off x="1895475" y="1325645"/>
            <a:ext cx="6682740" cy="11303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150000"/>
              </a:lnSpc>
            </a:pPr>
            <a:br>
              <a:rPr lang="en-US" sz="1000" dirty="0"/>
            </a:br>
            <a:r>
              <a:rPr lang="en-US" sz="1000" dirty="0"/>
              <a:t>All project steps were completed entirely within Power BI, from importing and cleaning the data to transforming it for analysis.</a:t>
            </a:r>
            <a:br>
              <a:rPr lang="en-US" sz="1000" dirty="0"/>
            </a:br>
            <a:r>
              <a:rPr lang="en-US" sz="1000" dirty="0"/>
              <a:t>The tool was used to explore the dataset, generate key insights, and create clear analytical visuals.</a:t>
            </a:r>
            <a:br>
              <a:rPr lang="en-US" sz="1000" dirty="0"/>
            </a:br>
            <a:r>
              <a:rPr lang="en-US" sz="1000" dirty="0"/>
              <a:t>Interactive dashboards were developed to present the findings in an intuitive and dynamic way.</a:t>
            </a:r>
            <a:br>
              <a:rPr lang="en-US" sz="1000" dirty="0"/>
            </a:br>
            <a:r>
              <a:rPr lang="en-US" sz="1000" dirty="0"/>
              <a:t>Overall, the full workflow—preparation, analysis, and reporting—was executed smoothly using Power BI.</a:t>
            </a:r>
          </a:p>
        </p:txBody>
      </p:sp>
      <p:sp>
        <p:nvSpPr>
          <p:cNvPr id="13" name="Text 10"/>
          <p:cNvSpPr/>
          <p:nvPr/>
        </p:nvSpPr>
        <p:spPr>
          <a:xfrm>
            <a:off x="571500" y="2762399"/>
            <a:ext cx="8001000" cy="23395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193" b="1" dirty="0">
                <a:solidFill>
                  <a:srgbClr val="336EA8"/>
                </a:solidFill>
              </a:rPr>
              <a:t>Analytical Techniques Applied</a:t>
            </a:r>
            <a:endParaRPr lang="en-US" sz="1193" dirty="0"/>
          </a:p>
        </p:txBody>
      </p:sp>
      <p:sp>
        <p:nvSpPr>
          <p:cNvPr id="14" name="Text 11"/>
          <p:cNvSpPr/>
          <p:nvPr/>
        </p:nvSpPr>
        <p:spPr>
          <a:xfrm>
            <a:off x="714375" y="3139232"/>
            <a:ext cx="1382706" cy="17502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885" b="1" dirty="0">
                <a:solidFill>
                  <a:srgbClr val="047954"/>
                </a:solidFill>
              </a:rPr>
              <a:t>Descriptive Statistics:</a:t>
            </a:r>
            <a:endParaRPr lang="en-US" sz="885" dirty="0"/>
          </a:p>
        </p:txBody>
      </p:sp>
      <p:sp>
        <p:nvSpPr>
          <p:cNvPr id="15" name="Text 12"/>
          <p:cNvSpPr/>
          <p:nvPr/>
        </p:nvSpPr>
        <p:spPr>
          <a:xfrm>
            <a:off x="1895475" y="3117451"/>
            <a:ext cx="4117646" cy="17502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942" dirty="0">
                <a:solidFill>
                  <a:srgbClr val="1A1A1A"/>
                </a:solidFill>
              </a:rPr>
              <a:t>Calculated mean, median, and standard deviation for price analysis.</a:t>
            </a:r>
            <a:endParaRPr lang="en-US" sz="942" dirty="0"/>
          </a:p>
        </p:txBody>
      </p:sp>
      <p:sp>
        <p:nvSpPr>
          <p:cNvPr id="16" name="Text 13"/>
          <p:cNvSpPr/>
          <p:nvPr/>
        </p:nvSpPr>
        <p:spPr>
          <a:xfrm>
            <a:off x="714375" y="3416387"/>
            <a:ext cx="1177882" cy="17502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885" b="1" dirty="0">
                <a:solidFill>
                  <a:srgbClr val="047954"/>
                </a:solidFill>
              </a:rPr>
              <a:t>Data Aggregation:</a:t>
            </a:r>
            <a:endParaRPr lang="en-US" sz="885" dirty="0"/>
          </a:p>
        </p:txBody>
      </p:sp>
      <p:sp>
        <p:nvSpPr>
          <p:cNvPr id="17" name="Text 14"/>
          <p:cNvSpPr/>
          <p:nvPr/>
        </p:nvSpPr>
        <p:spPr>
          <a:xfrm>
            <a:off x="1892257" y="3416387"/>
            <a:ext cx="5587529" cy="17502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942" dirty="0">
                <a:solidFill>
                  <a:srgbClr val="1A1A1A"/>
                </a:solidFill>
              </a:rPr>
              <a:t>Grouped data by brand, model, price segment, and governorate to identify market patterns.</a:t>
            </a:r>
            <a:endParaRPr lang="en-US" sz="942" dirty="0"/>
          </a:p>
        </p:txBody>
      </p:sp>
      <p:sp>
        <p:nvSpPr>
          <p:cNvPr id="18" name="Text 15"/>
          <p:cNvSpPr/>
          <p:nvPr/>
        </p:nvSpPr>
        <p:spPr>
          <a:xfrm>
            <a:off x="714375" y="3693542"/>
            <a:ext cx="1507973" cy="17502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885" b="1" dirty="0">
                <a:solidFill>
                  <a:srgbClr val="047954"/>
                </a:solidFill>
              </a:rPr>
              <a:t>Segmentation Analysis:</a:t>
            </a:r>
            <a:endParaRPr lang="en-US" sz="885" dirty="0"/>
          </a:p>
        </p:txBody>
      </p:sp>
      <p:sp>
        <p:nvSpPr>
          <p:cNvPr id="19" name="Text 16"/>
          <p:cNvSpPr/>
          <p:nvPr/>
        </p:nvSpPr>
        <p:spPr>
          <a:xfrm>
            <a:off x="1895475" y="3693542"/>
            <a:ext cx="6677025" cy="3909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942" dirty="0">
                <a:solidFill>
                  <a:srgbClr val="1A1A1A"/>
                </a:solidFill>
              </a:rPr>
              <a:t>Classified vehicles into price categories (Cheap, Affordable, Mid-range, Expensive, Extreme) and condition categories (Heavily Used, Moderately Used, Lightly Used, Nearly New).</a:t>
            </a:r>
            <a:endParaRPr lang="en-US" sz="942" dirty="0"/>
          </a:p>
        </p:txBody>
      </p:sp>
      <p:sp>
        <p:nvSpPr>
          <p:cNvPr id="20" name="Text 17"/>
          <p:cNvSpPr/>
          <p:nvPr/>
        </p:nvSpPr>
        <p:spPr>
          <a:xfrm>
            <a:off x="714375" y="4176415"/>
            <a:ext cx="1319975" cy="17502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885" b="1" dirty="0">
                <a:solidFill>
                  <a:srgbClr val="047954"/>
                </a:solidFill>
              </a:rPr>
              <a:t>Price Trend Analysis:</a:t>
            </a:r>
            <a:endParaRPr lang="en-US" sz="885" dirty="0"/>
          </a:p>
        </p:txBody>
      </p:sp>
      <p:sp>
        <p:nvSpPr>
          <p:cNvPr id="21" name="Text 18"/>
          <p:cNvSpPr/>
          <p:nvPr/>
        </p:nvSpPr>
        <p:spPr>
          <a:xfrm>
            <a:off x="1895475" y="4176415"/>
            <a:ext cx="6342199" cy="17502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942" dirty="0">
                <a:solidFill>
                  <a:srgbClr val="1A1A1A"/>
                </a:solidFill>
              </a:rPr>
              <a:t>Analyzed historical price trends from 2016 to 2022 to identify inflationary patterns and market dynamics.</a:t>
            </a:r>
            <a:endParaRPr lang="en-US" sz="942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C697A14-BFF8-413E-A8F2-3BB777EA6757}"/>
              </a:ext>
            </a:extLst>
          </p:cNvPr>
          <p:cNvSpPr/>
          <p:nvPr/>
        </p:nvSpPr>
        <p:spPr>
          <a:xfrm>
            <a:off x="571500" y="1890799"/>
            <a:ext cx="142875" cy="76946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8D9F1FD-71E4-43AB-84EA-148CA98D6458}"/>
              </a:ext>
            </a:extLst>
          </p:cNvPr>
          <p:cNvSpPr txBox="1"/>
          <p:nvPr/>
        </p:nvSpPr>
        <p:spPr>
          <a:xfrm>
            <a:off x="8234363" y="4792979"/>
            <a:ext cx="338138" cy="261610"/>
          </a:xfrm>
          <a:prstGeom prst="rect">
            <a:avLst/>
          </a:prstGeom>
          <a:solidFill>
            <a:srgbClr val="1869A6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bg1"/>
                </a:solidFill>
              </a:rPr>
              <a:t>6</a:t>
            </a: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3159B122-DD86-4D66-8B85-82CF1DA0B6EA}"/>
              </a:ext>
            </a:extLst>
          </p:cNvPr>
          <p:cNvGrpSpPr/>
          <p:nvPr/>
        </p:nvGrpSpPr>
        <p:grpSpPr>
          <a:xfrm>
            <a:off x="6703435" y="4539866"/>
            <a:ext cx="1223665" cy="562602"/>
            <a:chOff x="6703435" y="4539866"/>
            <a:chExt cx="1223665" cy="562602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A01DA7B9-025F-40D8-A12D-93241339C38D}"/>
                </a:ext>
              </a:extLst>
            </p:cNvPr>
            <p:cNvSpPr txBox="1"/>
            <p:nvPr/>
          </p:nvSpPr>
          <p:spPr>
            <a:xfrm>
              <a:off x="6703435" y="4539866"/>
              <a:ext cx="1160318" cy="562602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endParaRPr lang="en-US" dirty="0"/>
            </a:p>
          </p:txBody>
        </p:sp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9B94C6AB-ACBA-41DE-AEBB-8E8B7081E49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992144" y="4792979"/>
              <a:ext cx="934956" cy="242765"/>
            </a:xfrm>
            <a:prstGeom prst="rect">
              <a:avLst/>
            </a:prstGeom>
            <a:noFill/>
          </p:spPr>
        </p:pic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7" name="Picture 56">
            <a:extLst>
              <a:ext uri="{FF2B5EF4-FFF2-40B4-BE49-F238E27FC236}">
                <a16:creationId xmlns:a16="http://schemas.microsoft.com/office/drawing/2014/main" id="{A77FB727-0C4B-4C84-92F0-38F5613D517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1500" y="714375"/>
            <a:ext cx="8001000" cy="362545"/>
          </a:xfrm>
          <a:prstGeom prst="rect">
            <a:avLst/>
          </a:prstGeom>
          <a:noFill/>
          <a:ln/>
        </p:spPr>
        <p:txBody>
          <a:bodyPr wrap="none" lIns="0" tIns="0" rIns="0" bIns="42545" rtlCol="0" anchor="t">
            <a:spAutoFit/>
          </a:bodyPr>
          <a:lstStyle/>
          <a:p>
            <a:pPr marL="0" indent="0" algn="l">
              <a:lnSpc>
                <a:spcPts val="2200"/>
              </a:lnSpc>
              <a:buNone/>
            </a:pPr>
            <a:r>
              <a:rPr lang="en-US" sz="1602" b="1" dirty="0">
                <a:solidFill>
                  <a:srgbClr val="1A1A1A"/>
                </a:solidFill>
              </a:rPr>
              <a:t>Vehicle Condition &amp; Best Deals</a:t>
            </a:r>
            <a:endParaRPr lang="en-US" sz="1602" dirty="0"/>
          </a:p>
        </p:txBody>
      </p:sp>
      <p:sp>
        <p:nvSpPr>
          <p:cNvPr id="4" name="Text 1"/>
          <p:cNvSpPr/>
          <p:nvPr/>
        </p:nvSpPr>
        <p:spPr>
          <a:xfrm>
            <a:off x="571500" y="1326952"/>
            <a:ext cx="3857625" cy="23395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193" b="1" dirty="0">
                <a:solidFill>
                  <a:srgbClr val="336EA8"/>
                </a:solidFill>
              </a:rPr>
              <a:t>Vehicle Condition Classification</a:t>
            </a:r>
            <a:endParaRPr lang="en-US" sz="1193" dirty="0"/>
          </a:p>
        </p:txBody>
      </p:sp>
      <p:sp>
        <p:nvSpPr>
          <p:cNvPr id="5" name="Shape 2"/>
          <p:cNvSpPr/>
          <p:nvPr/>
        </p:nvSpPr>
        <p:spPr>
          <a:xfrm>
            <a:off x="571500" y="1632347"/>
            <a:ext cx="1702026" cy="273248"/>
          </a:xfrm>
          <a:prstGeom prst="rect">
            <a:avLst/>
          </a:prstGeom>
          <a:solidFill>
            <a:srgbClr val="336EA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571500" y="1898452"/>
            <a:ext cx="1702026" cy="7144"/>
          </a:xfrm>
          <a:prstGeom prst="rect">
            <a:avLst/>
          </a:prstGeom>
          <a:solidFill>
            <a:srgbClr val="DDDDD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571500" y="1632347"/>
            <a:ext cx="1702026" cy="273248"/>
          </a:xfrm>
          <a:prstGeom prst="rect">
            <a:avLst/>
          </a:prstGeom>
          <a:noFill/>
          <a:ln/>
        </p:spPr>
        <p:txBody>
          <a:bodyPr wrap="square" lIns="102108" tIns="68072" rIns="102108" bIns="68072" rtlCol="0" anchor="ctr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784" b="1" dirty="0">
                <a:solidFill>
                  <a:srgbClr val="FFFFFF"/>
                </a:solidFill>
              </a:rPr>
              <a:t>Classification</a:t>
            </a:r>
            <a:endParaRPr lang="en-US" sz="784" dirty="0"/>
          </a:p>
        </p:txBody>
      </p:sp>
      <p:sp>
        <p:nvSpPr>
          <p:cNvPr id="8" name="Shape 5"/>
          <p:cNvSpPr/>
          <p:nvPr/>
        </p:nvSpPr>
        <p:spPr>
          <a:xfrm>
            <a:off x="2273526" y="1632347"/>
            <a:ext cx="1169203" cy="273248"/>
          </a:xfrm>
          <a:prstGeom prst="rect">
            <a:avLst/>
          </a:prstGeom>
          <a:solidFill>
            <a:srgbClr val="336EA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Shape 6"/>
          <p:cNvSpPr/>
          <p:nvPr/>
        </p:nvSpPr>
        <p:spPr>
          <a:xfrm>
            <a:off x="2273526" y="1898452"/>
            <a:ext cx="1169203" cy="7144"/>
          </a:xfrm>
          <a:prstGeom prst="rect">
            <a:avLst/>
          </a:prstGeom>
          <a:solidFill>
            <a:srgbClr val="DDDDD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2273526" y="1632347"/>
            <a:ext cx="1169203" cy="273248"/>
          </a:xfrm>
          <a:prstGeom prst="rect">
            <a:avLst/>
          </a:prstGeom>
          <a:noFill/>
          <a:ln/>
        </p:spPr>
        <p:txBody>
          <a:bodyPr wrap="square" lIns="102108" tIns="68072" rIns="102108" bIns="68072" rtlCol="0" anchor="ctr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784" b="1" dirty="0">
                <a:solidFill>
                  <a:srgbClr val="FFFFFF"/>
                </a:solidFill>
              </a:rPr>
              <a:t>Units Sold</a:t>
            </a:r>
            <a:endParaRPr lang="en-US" sz="784" dirty="0"/>
          </a:p>
        </p:txBody>
      </p:sp>
      <p:sp>
        <p:nvSpPr>
          <p:cNvPr id="11" name="Shape 8"/>
          <p:cNvSpPr/>
          <p:nvPr/>
        </p:nvSpPr>
        <p:spPr>
          <a:xfrm>
            <a:off x="3442729" y="1632347"/>
            <a:ext cx="986396" cy="273248"/>
          </a:xfrm>
          <a:prstGeom prst="rect">
            <a:avLst/>
          </a:prstGeom>
          <a:solidFill>
            <a:srgbClr val="336EA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Shape 9"/>
          <p:cNvSpPr/>
          <p:nvPr/>
        </p:nvSpPr>
        <p:spPr>
          <a:xfrm>
            <a:off x="3442729" y="1898452"/>
            <a:ext cx="986396" cy="7144"/>
          </a:xfrm>
          <a:prstGeom prst="rect">
            <a:avLst/>
          </a:prstGeom>
          <a:solidFill>
            <a:srgbClr val="DDDDD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3442729" y="1632347"/>
            <a:ext cx="986396" cy="273248"/>
          </a:xfrm>
          <a:prstGeom prst="rect">
            <a:avLst/>
          </a:prstGeom>
          <a:noFill/>
          <a:ln/>
        </p:spPr>
        <p:txBody>
          <a:bodyPr wrap="square" lIns="102108" tIns="68072" rIns="102108" bIns="68072" rtlCol="0" anchor="ctr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784" b="1" dirty="0">
                <a:solidFill>
                  <a:srgbClr val="FFFFFF"/>
                </a:solidFill>
              </a:rPr>
              <a:t>Share %</a:t>
            </a:r>
            <a:endParaRPr lang="en-US" sz="784" dirty="0"/>
          </a:p>
        </p:txBody>
      </p:sp>
      <p:sp>
        <p:nvSpPr>
          <p:cNvPr id="14" name="Text 11"/>
          <p:cNvSpPr/>
          <p:nvPr/>
        </p:nvSpPr>
        <p:spPr>
          <a:xfrm>
            <a:off x="571500" y="1902023"/>
            <a:ext cx="1702026" cy="273248"/>
          </a:xfrm>
          <a:prstGeom prst="rect">
            <a:avLst/>
          </a:prstGeom>
          <a:noFill/>
          <a:ln/>
        </p:spPr>
        <p:txBody>
          <a:bodyPr wrap="square" lIns="102108" tIns="68072" rIns="102108" bIns="68072" rtlCol="0" anchor="ctr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834" dirty="0">
                <a:solidFill>
                  <a:srgbClr val="1A1A1A"/>
                </a:solidFill>
              </a:rPr>
              <a:t>Heavily Used</a:t>
            </a:r>
            <a:endParaRPr lang="en-US" sz="834" dirty="0"/>
          </a:p>
        </p:txBody>
      </p:sp>
      <p:sp>
        <p:nvSpPr>
          <p:cNvPr id="15" name="Text 12"/>
          <p:cNvSpPr/>
          <p:nvPr/>
        </p:nvSpPr>
        <p:spPr>
          <a:xfrm>
            <a:off x="2273526" y="1902023"/>
            <a:ext cx="1169203" cy="273248"/>
          </a:xfrm>
          <a:prstGeom prst="rect">
            <a:avLst/>
          </a:prstGeom>
          <a:noFill/>
          <a:ln/>
        </p:spPr>
        <p:txBody>
          <a:bodyPr wrap="square" lIns="102108" tIns="68072" rIns="102108" bIns="68072" rtlCol="0" anchor="ctr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834" dirty="0">
                <a:solidFill>
                  <a:srgbClr val="1A1A1A"/>
                </a:solidFill>
              </a:rPr>
              <a:t>19,911</a:t>
            </a:r>
            <a:endParaRPr lang="en-US" sz="834" dirty="0"/>
          </a:p>
        </p:txBody>
      </p:sp>
      <p:sp>
        <p:nvSpPr>
          <p:cNvPr id="16" name="Text 13"/>
          <p:cNvSpPr/>
          <p:nvPr/>
        </p:nvSpPr>
        <p:spPr>
          <a:xfrm>
            <a:off x="3442729" y="1902023"/>
            <a:ext cx="986396" cy="273248"/>
          </a:xfrm>
          <a:prstGeom prst="rect">
            <a:avLst/>
          </a:prstGeom>
          <a:noFill/>
          <a:ln/>
        </p:spPr>
        <p:txBody>
          <a:bodyPr wrap="square" lIns="102108" tIns="68072" rIns="102108" bIns="68072" rtlCol="0" anchor="ctr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834" dirty="0">
                <a:solidFill>
                  <a:srgbClr val="1A1A1A"/>
                </a:solidFill>
              </a:rPr>
              <a:t>62.2%</a:t>
            </a:r>
            <a:endParaRPr lang="en-US" sz="834" dirty="0"/>
          </a:p>
        </p:txBody>
      </p:sp>
      <p:sp>
        <p:nvSpPr>
          <p:cNvPr id="17" name="Shape 14"/>
          <p:cNvSpPr/>
          <p:nvPr/>
        </p:nvSpPr>
        <p:spPr>
          <a:xfrm>
            <a:off x="571500" y="2175272"/>
            <a:ext cx="3857625" cy="27682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5"/>
          <p:cNvSpPr/>
          <p:nvPr/>
        </p:nvSpPr>
        <p:spPr>
          <a:xfrm>
            <a:off x="571500" y="2175272"/>
            <a:ext cx="1702026" cy="276820"/>
          </a:xfrm>
          <a:prstGeom prst="rect">
            <a:avLst/>
          </a:prstGeom>
          <a:noFill/>
          <a:ln/>
        </p:spPr>
        <p:txBody>
          <a:bodyPr wrap="square" lIns="102108" tIns="68072" rIns="102108" bIns="68072" rtlCol="0" anchor="ctr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834" dirty="0">
                <a:solidFill>
                  <a:srgbClr val="1A1A1A"/>
                </a:solidFill>
              </a:rPr>
              <a:t>Moderately Used</a:t>
            </a:r>
            <a:endParaRPr lang="en-US" sz="834" dirty="0"/>
          </a:p>
        </p:txBody>
      </p:sp>
      <p:sp>
        <p:nvSpPr>
          <p:cNvPr id="19" name="Text 16"/>
          <p:cNvSpPr/>
          <p:nvPr/>
        </p:nvSpPr>
        <p:spPr>
          <a:xfrm>
            <a:off x="2273526" y="2175272"/>
            <a:ext cx="1169203" cy="276820"/>
          </a:xfrm>
          <a:prstGeom prst="rect">
            <a:avLst/>
          </a:prstGeom>
          <a:noFill/>
          <a:ln/>
        </p:spPr>
        <p:txBody>
          <a:bodyPr wrap="square" lIns="102108" tIns="68072" rIns="102108" bIns="68072" rtlCol="0" anchor="ctr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834" dirty="0">
                <a:solidFill>
                  <a:srgbClr val="1A1A1A"/>
                </a:solidFill>
              </a:rPr>
              <a:t>5,059</a:t>
            </a:r>
            <a:endParaRPr lang="en-US" sz="834" dirty="0"/>
          </a:p>
        </p:txBody>
      </p:sp>
      <p:sp>
        <p:nvSpPr>
          <p:cNvPr id="20" name="Text 17"/>
          <p:cNvSpPr/>
          <p:nvPr/>
        </p:nvSpPr>
        <p:spPr>
          <a:xfrm>
            <a:off x="3442729" y="2175272"/>
            <a:ext cx="986396" cy="276820"/>
          </a:xfrm>
          <a:prstGeom prst="rect">
            <a:avLst/>
          </a:prstGeom>
          <a:noFill/>
          <a:ln/>
        </p:spPr>
        <p:txBody>
          <a:bodyPr wrap="square" lIns="102108" tIns="68072" rIns="102108" bIns="68072" rtlCol="0" anchor="ctr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834" dirty="0">
                <a:solidFill>
                  <a:srgbClr val="1A1A1A"/>
                </a:solidFill>
              </a:rPr>
              <a:t>15.8%</a:t>
            </a:r>
            <a:endParaRPr lang="en-US" sz="834" dirty="0"/>
          </a:p>
        </p:txBody>
      </p:sp>
      <p:sp>
        <p:nvSpPr>
          <p:cNvPr id="21" name="Text 18"/>
          <p:cNvSpPr/>
          <p:nvPr/>
        </p:nvSpPr>
        <p:spPr>
          <a:xfrm>
            <a:off x="571500" y="2452092"/>
            <a:ext cx="1702026" cy="276820"/>
          </a:xfrm>
          <a:prstGeom prst="rect">
            <a:avLst/>
          </a:prstGeom>
          <a:noFill/>
          <a:ln/>
        </p:spPr>
        <p:txBody>
          <a:bodyPr wrap="square" lIns="102108" tIns="68072" rIns="102108" bIns="68072" rtlCol="0" anchor="ctr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834" dirty="0">
                <a:solidFill>
                  <a:srgbClr val="1A1A1A"/>
                </a:solidFill>
              </a:rPr>
              <a:t>Lightly Used</a:t>
            </a:r>
            <a:endParaRPr lang="en-US" sz="834" dirty="0"/>
          </a:p>
        </p:txBody>
      </p:sp>
      <p:sp>
        <p:nvSpPr>
          <p:cNvPr id="22" name="Text 19"/>
          <p:cNvSpPr/>
          <p:nvPr/>
        </p:nvSpPr>
        <p:spPr>
          <a:xfrm>
            <a:off x="2273526" y="2452092"/>
            <a:ext cx="1169203" cy="276820"/>
          </a:xfrm>
          <a:prstGeom prst="rect">
            <a:avLst/>
          </a:prstGeom>
          <a:noFill/>
          <a:ln/>
        </p:spPr>
        <p:txBody>
          <a:bodyPr wrap="square" lIns="102108" tIns="68072" rIns="102108" bIns="68072" rtlCol="0" anchor="ctr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834" dirty="0">
                <a:solidFill>
                  <a:srgbClr val="1A1A1A"/>
                </a:solidFill>
              </a:rPr>
              <a:t>4,920</a:t>
            </a:r>
            <a:endParaRPr lang="en-US" sz="834" dirty="0"/>
          </a:p>
        </p:txBody>
      </p:sp>
      <p:sp>
        <p:nvSpPr>
          <p:cNvPr id="23" name="Text 20"/>
          <p:cNvSpPr/>
          <p:nvPr/>
        </p:nvSpPr>
        <p:spPr>
          <a:xfrm>
            <a:off x="3442729" y="2452092"/>
            <a:ext cx="986396" cy="276820"/>
          </a:xfrm>
          <a:prstGeom prst="rect">
            <a:avLst/>
          </a:prstGeom>
          <a:noFill/>
          <a:ln/>
        </p:spPr>
        <p:txBody>
          <a:bodyPr wrap="square" lIns="102108" tIns="68072" rIns="102108" bIns="68072" rtlCol="0" anchor="ctr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834" dirty="0">
                <a:solidFill>
                  <a:srgbClr val="1A1A1A"/>
                </a:solidFill>
              </a:rPr>
              <a:t>15.4%</a:t>
            </a:r>
            <a:endParaRPr lang="en-US" sz="834" dirty="0"/>
          </a:p>
        </p:txBody>
      </p:sp>
      <p:sp>
        <p:nvSpPr>
          <p:cNvPr id="24" name="Shape 21"/>
          <p:cNvSpPr/>
          <p:nvPr/>
        </p:nvSpPr>
        <p:spPr>
          <a:xfrm>
            <a:off x="571500" y="2728913"/>
            <a:ext cx="3857625" cy="27682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2"/>
          <p:cNvSpPr/>
          <p:nvPr/>
        </p:nvSpPr>
        <p:spPr>
          <a:xfrm>
            <a:off x="571500" y="2728913"/>
            <a:ext cx="1702026" cy="276820"/>
          </a:xfrm>
          <a:prstGeom prst="rect">
            <a:avLst/>
          </a:prstGeom>
          <a:noFill/>
          <a:ln/>
        </p:spPr>
        <p:txBody>
          <a:bodyPr wrap="square" lIns="102108" tIns="68072" rIns="102108" bIns="68072" rtlCol="0" anchor="ctr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834" dirty="0">
                <a:solidFill>
                  <a:srgbClr val="1A1A1A"/>
                </a:solidFill>
              </a:rPr>
              <a:t>Nearly New</a:t>
            </a:r>
            <a:endParaRPr lang="en-US" sz="834" dirty="0"/>
          </a:p>
        </p:txBody>
      </p:sp>
      <p:sp>
        <p:nvSpPr>
          <p:cNvPr id="26" name="Text 23"/>
          <p:cNvSpPr/>
          <p:nvPr/>
        </p:nvSpPr>
        <p:spPr>
          <a:xfrm>
            <a:off x="2273526" y="2728913"/>
            <a:ext cx="1169203" cy="276820"/>
          </a:xfrm>
          <a:prstGeom prst="rect">
            <a:avLst/>
          </a:prstGeom>
          <a:noFill/>
          <a:ln/>
        </p:spPr>
        <p:txBody>
          <a:bodyPr wrap="square" lIns="102108" tIns="68072" rIns="102108" bIns="68072" rtlCol="0" anchor="ctr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834" dirty="0">
                <a:solidFill>
                  <a:srgbClr val="1A1A1A"/>
                </a:solidFill>
              </a:rPr>
              <a:t>336</a:t>
            </a:r>
            <a:endParaRPr lang="en-US" sz="834" dirty="0"/>
          </a:p>
        </p:txBody>
      </p:sp>
      <p:sp>
        <p:nvSpPr>
          <p:cNvPr id="27" name="Text 24"/>
          <p:cNvSpPr/>
          <p:nvPr/>
        </p:nvSpPr>
        <p:spPr>
          <a:xfrm>
            <a:off x="3442729" y="2728913"/>
            <a:ext cx="986396" cy="276820"/>
          </a:xfrm>
          <a:prstGeom prst="rect">
            <a:avLst/>
          </a:prstGeom>
          <a:noFill/>
          <a:ln/>
        </p:spPr>
        <p:txBody>
          <a:bodyPr wrap="square" lIns="102108" tIns="68072" rIns="102108" bIns="68072" rtlCol="0" anchor="ctr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834" dirty="0">
                <a:solidFill>
                  <a:srgbClr val="1A1A1A"/>
                </a:solidFill>
              </a:rPr>
              <a:t>1.0%</a:t>
            </a:r>
            <a:endParaRPr lang="en-US" sz="834" dirty="0"/>
          </a:p>
        </p:txBody>
      </p:sp>
      <p:sp>
        <p:nvSpPr>
          <p:cNvPr id="28" name="Text 25"/>
          <p:cNvSpPr/>
          <p:nvPr/>
        </p:nvSpPr>
        <p:spPr>
          <a:xfrm>
            <a:off x="571500" y="3116461"/>
            <a:ext cx="385762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834" dirty="0">
                <a:solidFill>
                  <a:srgbClr val="1A1A1A"/>
                </a:solidFill>
              </a:rPr>
              <a:t>The dominance of </a:t>
            </a:r>
            <a:r>
              <a:rPr lang="en-US" sz="784" b="1" dirty="0">
                <a:solidFill>
                  <a:srgbClr val="047954"/>
                </a:solidFill>
              </a:rPr>
              <a:t>"Heavily Used"</a:t>
            </a:r>
            <a:r>
              <a:rPr lang="en-US" sz="834" dirty="0">
                <a:solidFill>
                  <a:srgbClr val="1A1A1A"/>
                </a:solidFill>
              </a:rPr>
              <a:t> vehicles (62.2%) reflects buyer prioritization of the lowest possible price point. However, the </a:t>
            </a:r>
            <a:r>
              <a:rPr lang="en-US" sz="784" b="1" dirty="0">
                <a:solidFill>
                  <a:srgbClr val="047954"/>
                </a:solidFill>
              </a:rPr>
              <a:t>10K+ units</a:t>
            </a:r>
            <a:r>
              <a:rPr lang="en-US" sz="834" dirty="0">
                <a:solidFill>
                  <a:srgbClr val="1A1A1A"/>
                </a:solidFill>
              </a:rPr>
              <a:t> in "Moderately Used" and "Lightly Used" categories represent a significant opportunity for buyers seeking better quality and value.</a:t>
            </a:r>
            <a:endParaRPr lang="en-US" sz="834" dirty="0"/>
          </a:p>
        </p:txBody>
      </p:sp>
      <p:sp>
        <p:nvSpPr>
          <p:cNvPr id="29" name="Text 26"/>
          <p:cNvSpPr/>
          <p:nvPr/>
        </p:nvSpPr>
        <p:spPr>
          <a:xfrm>
            <a:off x="4714875" y="1326952"/>
            <a:ext cx="3857625" cy="23395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193" b="1" dirty="0">
                <a:solidFill>
                  <a:srgbClr val="336EA8"/>
                </a:solidFill>
              </a:rPr>
              <a:t>Best Deal Opportunities</a:t>
            </a:r>
            <a:endParaRPr lang="en-US" sz="1193" dirty="0"/>
          </a:p>
        </p:txBody>
      </p:sp>
      <p:sp>
        <p:nvSpPr>
          <p:cNvPr id="30" name="Shape 27"/>
          <p:cNvSpPr/>
          <p:nvPr/>
        </p:nvSpPr>
        <p:spPr>
          <a:xfrm>
            <a:off x="4714875" y="1632347"/>
            <a:ext cx="1104128" cy="273248"/>
          </a:xfrm>
          <a:prstGeom prst="rect">
            <a:avLst/>
          </a:prstGeom>
          <a:solidFill>
            <a:srgbClr val="336EA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Shape 28"/>
          <p:cNvSpPr/>
          <p:nvPr/>
        </p:nvSpPr>
        <p:spPr>
          <a:xfrm>
            <a:off x="4714875" y="1898452"/>
            <a:ext cx="1104128" cy="7144"/>
          </a:xfrm>
          <a:prstGeom prst="rect">
            <a:avLst/>
          </a:prstGeom>
          <a:solidFill>
            <a:srgbClr val="DDDDD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Text 29"/>
          <p:cNvSpPr/>
          <p:nvPr/>
        </p:nvSpPr>
        <p:spPr>
          <a:xfrm>
            <a:off x="4714875" y="1632347"/>
            <a:ext cx="1104128" cy="273248"/>
          </a:xfrm>
          <a:prstGeom prst="rect">
            <a:avLst/>
          </a:prstGeom>
          <a:noFill/>
          <a:ln/>
        </p:spPr>
        <p:txBody>
          <a:bodyPr wrap="square" lIns="102108" tIns="68072" rIns="102108" bIns="68072" rtlCol="0" anchor="ctr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784" b="1" dirty="0">
                <a:solidFill>
                  <a:srgbClr val="FFFFFF"/>
                </a:solidFill>
              </a:rPr>
              <a:t>Model</a:t>
            </a:r>
            <a:endParaRPr lang="en-US" sz="784" dirty="0"/>
          </a:p>
        </p:txBody>
      </p:sp>
      <p:sp>
        <p:nvSpPr>
          <p:cNvPr id="33" name="Shape 30"/>
          <p:cNvSpPr/>
          <p:nvPr/>
        </p:nvSpPr>
        <p:spPr>
          <a:xfrm>
            <a:off x="5819003" y="1632347"/>
            <a:ext cx="1390213" cy="273248"/>
          </a:xfrm>
          <a:prstGeom prst="rect">
            <a:avLst/>
          </a:prstGeom>
          <a:solidFill>
            <a:srgbClr val="336EA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" name="Shape 31"/>
          <p:cNvSpPr/>
          <p:nvPr/>
        </p:nvSpPr>
        <p:spPr>
          <a:xfrm>
            <a:off x="5819003" y="1898452"/>
            <a:ext cx="1390213" cy="7144"/>
          </a:xfrm>
          <a:prstGeom prst="rect">
            <a:avLst/>
          </a:prstGeom>
          <a:solidFill>
            <a:srgbClr val="DDDDD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" name="Text 32"/>
          <p:cNvSpPr/>
          <p:nvPr/>
        </p:nvSpPr>
        <p:spPr>
          <a:xfrm>
            <a:off x="5819003" y="1632347"/>
            <a:ext cx="1390213" cy="273248"/>
          </a:xfrm>
          <a:prstGeom prst="rect">
            <a:avLst/>
          </a:prstGeom>
          <a:noFill/>
          <a:ln/>
        </p:spPr>
        <p:txBody>
          <a:bodyPr wrap="square" lIns="102108" tIns="68072" rIns="102108" bIns="68072" rtlCol="0" anchor="ctr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784" b="1" dirty="0">
                <a:solidFill>
                  <a:srgbClr val="FFFFFF"/>
                </a:solidFill>
              </a:rPr>
              <a:t>Price (EGP)</a:t>
            </a:r>
            <a:endParaRPr lang="en-US" sz="784" dirty="0"/>
          </a:p>
        </p:txBody>
      </p:sp>
      <p:sp>
        <p:nvSpPr>
          <p:cNvPr id="36" name="Shape 33"/>
          <p:cNvSpPr/>
          <p:nvPr/>
        </p:nvSpPr>
        <p:spPr>
          <a:xfrm>
            <a:off x="7209216" y="1632347"/>
            <a:ext cx="1363284" cy="273248"/>
          </a:xfrm>
          <a:prstGeom prst="rect">
            <a:avLst/>
          </a:prstGeom>
          <a:solidFill>
            <a:srgbClr val="336EA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Shape 34"/>
          <p:cNvSpPr/>
          <p:nvPr/>
        </p:nvSpPr>
        <p:spPr>
          <a:xfrm>
            <a:off x="7209216" y="1898452"/>
            <a:ext cx="1363284" cy="7144"/>
          </a:xfrm>
          <a:prstGeom prst="rect">
            <a:avLst/>
          </a:prstGeom>
          <a:solidFill>
            <a:srgbClr val="DDDDD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8" name="Text 35"/>
          <p:cNvSpPr/>
          <p:nvPr/>
        </p:nvSpPr>
        <p:spPr>
          <a:xfrm>
            <a:off x="7209216" y="1632347"/>
            <a:ext cx="1363284" cy="273248"/>
          </a:xfrm>
          <a:prstGeom prst="rect">
            <a:avLst/>
          </a:prstGeom>
          <a:noFill/>
          <a:ln/>
        </p:spPr>
        <p:txBody>
          <a:bodyPr wrap="square" lIns="102108" tIns="68072" rIns="102108" bIns="68072" rtlCol="0" anchor="ctr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784" b="1" dirty="0">
                <a:solidFill>
                  <a:srgbClr val="FFFFFF"/>
                </a:solidFill>
              </a:rPr>
              <a:t>Deal Score</a:t>
            </a:r>
            <a:endParaRPr lang="en-US" sz="784" dirty="0"/>
          </a:p>
        </p:txBody>
      </p:sp>
      <p:sp>
        <p:nvSpPr>
          <p:cNvPr id="39" name="Text 36"/>
          <p:cNvSpPr/>
          <p:nvPr/>
        </p:nvSpPr>
        <p:spPr>
          <a:xfrm>
            <a:off x="4714875" y="1902023"/>
            <a:ext cx="1104128" cy="273248"/>
          </a:xfrm>
          <a:prstGeom prst="rect">
            <a:avLst/>
          </a:prstGeom>
          <a:noFill/>
          <a:ln/>
        </p:spPr>
        <p:txBody>
          <a:bodyPr wrap="square" lIns="102108" tIns="68072" rIns="102108" bIns="68072" rtlCol="0" anchor="ctr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834" dirty="0">
                <a:solidFill>
                  <a:srgbClr val="1A1A1A"/>
                </a:solidFill>
              </a:rPr>
              <a:t>Alsvin</a:t>
            </a:r>
            <a:endParaRPr lang="en-US" sz="834" dirty="0"/>
          </a:p>
        </p:txBody>
      </p:sp>
      <p:sp>
        <p:nvSpPr>
          <p:cNvPr id="40" name="Text 37"/>
          <p:cNvSpPr/>
          <p:nvPr/>
        </p:nvSpPr>
        <p:spPr>
          <a:xfrm>
            <a:off x="5819003" y="1902023"/>
            <a:ext cx="1390213" cy="273248"/>
          </a:xfrm>
          <a:prstGeom prst="rect">
            <a:avLst/>
          </a:prstGeom>
          <a:noFill/>
          <a:ln/>
        </p:spPr>
        <p:txBody>
          <a:bodyPr wrap="square" lIns="102108" tIns="68072" rIns="102108" bIns="68072" rtlCol="0" anchor="ctr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834" dirty="0">
                <a:solidFill>
                  <a:srgbClr val="1A1A1A"/>
                </a:solidFill>
              </a:rPr>
              <a:t>125,000</a:t>
            </a:r>
            <a:endParaRPr lang="en-US" sz="834" dirty="0"/>
          </a:p>
        </p:txBody>
      </p:sp>
      <p:sp>
        <p:nvSpPr>
          <p:cNvPr id="41" name="Text 38"/>
          <p:cNvSpPr/>
          <p:nvPr/>
        </p:nvSpPr>
        <p:spPr>
          <a:xfrm>
            <a:off x="7209216" y="1902023"/>
            <a:ext cx="1363284" cy="273248"/>
          </a:xfrm>
          <a:prstGeom prst="rect">
            <a:avLst/>
          </a:prstGeom>
          <a:noFill/>
          <a:ln/>
        </p:spPr>
        <p:txBody>
          <a:bodyPr wrap="square" lIns="102108" tIns="68072" rIns="102108" bIns="68072" rtlCol="0" anchor="ctr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834" dirty="0">
                <a:solidFill>
                  <a:srgbClr val="1A1A1A"/>
                </a:solidFill>
              </a:rPr>
              <a:t>0.99</a:t>
            </a:r>
            <a:endParaRPr lang="en-US" sz="834" dirty="0"/>
          </a:p>
        </p:txBody>
      </p:sp>
      <p:sp>
        <p:nvSpPr>
          <p:cNvPr id="42" name="Shape 39"/>
          <p:cNvSpPr/>
          <p:nvPr/>
        </p:nvSpPr>
        <p:spPr>
          <a:xfrm>
            <a:off x="4714875" y="2175272"/>
            <a:ext cx="3857625" cy="27682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3" name="Text 40"/>
          <p:cNvSpPr/>
          <p:nvPr/>
        </p:nvSpPr>
        <p:spPr>
          <a:xfrm>
            <a:off x="4714875" y="2175272"/>
            <a:ext cx="1104128" cy="276820"/>
          </a:xfrm>
          <a:prstGeom prst="rect">
            <a:avLst/>
          </a:prstGeom>
          <a:noFill/>
          <a:ln/>
        </p:spPr>
        <p:txBody>
          <a:bodyPr wrap="square" lIns="102108" tIns="68072" rIns="102108" bIns="68072" rtlCol="0" anchor="ctr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834" dirty="0">
                <a:solidFill>
                  <a:srgbClr val="1A1A1A"/>
                </a:solidFill>
              </a:rPr>
              <a:t>Arrizo 3</a:t>
            </a:r>
            <a:endParaRPr lang="en-US" sz="834" dirty="0"/>
          </a:p>
        </p:txBody>
      </p:sp>
      <p:sp>
        <p:nvSpPr>
          <p:cNvPr id="44" name="Text 41"/>
          <p:cNvSpPr/>
          <p:nvPr/>
        </p:nvSpPr>
        <p:spPr>
          <a:xfrm>
            <a:off x="5819003" y="2175272"/>
            <a:ext cx="1390213" cy="276820"/>
          </a:xfrm>
          <a:prstGeom prst="rect">
            <a:avLst/>
          </a:prstGeom>
          <a:noFill/>
          <a:ln/>
        </p:spPr>
        <p:txBody>
          <a:bodyPr wrap="square" lIns="102108" tIns="68072" rIns="102108" bIns="68072" rtlCol="0" anchor="ctr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834" dirty="0">
                <a:solidFill>
                  <a:srgbClr val="1A1A1A"/>
                </a:solidFill>
              </a:rPr>
              <a:t>445,000</a:t>
            </a:r>
            <a:endParaRPr lang="en-US" sz="834" dirty="0"/>
          </a:p>
        </p:txBody>
      </p:sp>
      <p:sp>
        <p:nvSpPr>
          <p:cNvPr id="45" name="Text 42"/>
          <p:cNvSpPr/>
          <p:nvPr/>
        </p:nvSpPr>
        <p:spPr>
          <a:xfrm>
            <a:off x="7209216" y="2175272"/>
            <a:ext cx="1363284" cy="276820"/>
          </a:xfrm>
          <a:prstGeom prst="rect">
            <a:avLst/>
          </a:prstGeom>
          <a:noFill/>
          <a:ln/>
        </p:spPr>
        <p:txBody>
          <a:bodyPr wrap="square" lIns="102108" tIns="68072" rIns="102108" bIns="68072" rtlCol="0" anchor="ctr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834" dirty="0">
                <a:solidFill>
                  <a:srgbClr val="1A1A1A"/>
                </a:solidFill>
              </a:rPr>
              <a:t>0.98</a:t>
            </a:r>
            <a:endParaRPr lang="en-US" sz="834" dirty="0"/>
          </a:p>
        </p:txBody>
      </p:sp>
      <p:sp>
        <p:nvSpPr>
          <p:cNvPr id="46" name="Text 43"/>
          <p:cNvSpPr/>
          <p:nvPr/>
        </p:nvSpPr>
        <p:spPr>
          <a:xfrm>
            <a:off x="4714875" y="2452092"/>
            <a:ext cx="1104128" cy="276820"/>
          </a:xfrm>
          <a:prstGeom prst="rect">
            <a:avLst/>
          </a:prstGeom>
          <a:noFill/>
          <a:ln/>
        </p:spPr>
        <p:txBody>
          <a:bodyPr wrap="square" lIns="102108" tIns="68072" rIns="102108" bIns="68072" rtlCol="0" anchor="ctr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834" dirty="0">
                <a:solidFill>
                  <a:srgbClr val="1A1A1A"/>
                </a:solidFill>
              </a:rPr>
              <a:t>Alsvin</a:t>
            </a:r>
            <a:endParaRPr lang="en-US" sz="834" dirty="0"/>
          </a:p>
        </p:txBody>
      </p:sp>
      <p:sp>
        <p:nvSpPr>
          <p:cNvPr id="47" name="Text 44"/>
          <p:cNvSpPr/>
          <p:nvPr/>
        </p:nvSpPr>
        <p:spPr>
          <a:xfrm>
            <a:off x="5819003" y="2452092"/>
            <a:ext cx="1390213" cy="276820"/>
          </a:xfrm>
          <a:prstGeom prst="rect">
            <a:avLst/>
          </a:prstGeom>
          <a:noFill/>
          <a:ln/>
        </p:spPr>
        <p:txBody>
          <a:bodyPr wrap="square" lIns="102108" tIns="68072" rIns="102108" bIns="68072" rtlCol="0" anchor="ctr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834" dirty="0">
                <a:solidFill>
                  <a:srgbClr val="1A1A1A"/>
                </a:solidFill>
              </a:rPr>
              <a:t>250,000</a:t>
            </a:r>
            <a:endParaRPr lang="en-US" sz="834" dirty="0"/>
          </a:p>
        </p:txBody>
      </p:sp>
      <p:sp>
        <p:nvSpPr>
          <p:cNvPr id="48" name="Text 45"/>
          <p:cNvSpPr/>
          <p:nvPr/>
        </p:nvSpPr>
        <p:spPr>
          <a:xfrm>
            <a:off x="7209216" y="2452092"/>
            <a:ext cx="1363284" cy="276820"/>
          </a:xfrm>
          <a:prstGeom prst="rect">
            <a:avLst/>
          </a:prstGeom>
          <a:noFill/>
          <a:ln/>
        </p:spPr>
        <p:txBody>
          <a:bodyPr wrap="square" lIns="102108" tIns="68072" rIns="102108" bIns="68072" rtlCol="0" anchor="ctr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834" dirty="0">
                <a:solidFill>
                  <a:srgbClr val="1A1A1A"/>
                </a:solidFill>
              </a:rPr>
              <a:t>0.98</a:t>
            </a:r>
            <a:endParaRPr lang="en-US" sz="834" dirty="0"/>
          </a:p>
        </p:txBody>
      </p:sp>
      <p:sp>
        <p:nvSpPr>
          <p:cNvPr id="49" name="Shape 46"/>
          <p:cNvSpPr/>
          <p:nvPr/>
        </p:nvSpPr>
        <p:spPr>
          <a:xfrm>
            <a:off x="4714875" y="2728913"/>
            <a:ext cx="3857625" cy="27682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0" name="Text 47"/>
          <p:cNvSpPr/>
          <p:nvPr/>
        </p:nvSpPr>
        <p:spPr>
          <a:xfrm>
            <a:off x="4714875" y="2728913"/>
            <a:ext cx="1104128" cy="276820"/>
          </a:xfrm>
          <a:prstGeom prst="rect">
            <a:avLst/>
          </a:prstGeom>
          <a:noFill/>
          <a:ln/>
        </p:spPr>
        <p:txBody>
          <a:bodyPr wrap="square" lIns="102108" tIns="68072" rIns="102108" bIns="68072" rtlCol="0" anchor="ctr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834" dirty="0">
                <a:solidFill>
                  <a:srgbClr val="1A1A1A"/>
                </a:solidFill>
              </a:rPr>
              <a:t>S Presso</a:t>
            </a:r>
            <a:endParaRPr lang="en-US" sz="834" dirty="0"/>
          </a:p>
        </p:txBody>
      </p:sp>
      <p:sp>
        <p:nvSpPr>
          <p:cNvPr id="51" name="Text 48"/>
          <p:cNvSpPr/>
          <p:nvPr/>
        </p:nvSpPr>
        <p:spPr>
          <a:xfrm>
            <a:off x="5819003" y="2728913"/>
            <a:ext cx="1390213" cy="276820"/>
          </a:xfrm>
          <a:prstGeom prst="rect">
            <a:avLst/>
          </a:prstGeom>
          <a:noFill/>
          <a:ln/>
        </p:spPr>
        <p:txBody>
          <a:bodyPr wrap="square" lIns="102108" tIns="68072" rIns="102108" bIns="68072" rtlCol="0" anchor="ctr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834" dirty="0">
                <a:solidFill>
                  <a:srgbClr val="1A1A1A"/>
                </a:solidFill>
              </a:rPr>
              <a:t>255,000</a:t>
            </a:r>
            <a:endParaRPr lang="en-US" sz="834" dirty="0"/>
          </a:p>
        </p:txBody>
      </p:sp>
      <p:sp>
        <p:nvSpPr>
          <p:cNvPr id="52" name="Text 49"/>
          <p:cNvSpPr/>
          <p:nvPr/>
        </p:nvSpPr>
        <p:spPr>
          <a:xfrm>
            <a:off x="7209216" y="2728913"/>
            <a:ext cx="1363284" cy="276820"/>
          </a:xfrm>
          <a:prstGeom prst="rect">
            <a:avLst/>
          </a:prstGeom>
          <a:noFill/>
          <a:ln/>
        </p:spPr>
        <p:txBody>
          <a:bodyPr wrap="square" lIns="102108" tIns="68072" rIns="102108" bIns="68072" rtlCol="0" anchor="ctr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834" dirty="0">
                <a:solidFill>
                  <a:srgbClr val="1A1A1A"/>
                </a:solidFill>
              </a:rPr>
              <a:t>0.98</a:t>
            </a:r>
            <a:endParaRPr lang="en-US" sz="834" dirty="0"/>
          </a:p>
        </p:txBody>
      </p:sp>
      <p:sp>
        <p:nvSpPr>
          <p:cNvPr id="53" name="Text 50"/>
          <p:cNvSpPr/>
          <p:nvPr/>
        </p:nvSpPr>
        <p:spPr>
          <a:xfrm>
            <a:off x="4714875" y="3005733"/>
            <a:ext cx="1104128" cy="276820"/>
          </a:xfrm>
          <a:prstGeom prst="rect">
            <a:avLst/>
          </a:prstGeom>
          <a:noFill/>
          <a:ln/>
        </p:spPr>
        <p:txBody>
          <a:bodyPr wrap="square" lIns="102108" tIns="68072" rIns="102108" bIns="68072" rtlCol="0" anchor="ctr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834" dirty="0">
                <a:solidFill>
                  <a:srgbClr val="1A1A1A"/>
                </a:solidFill>
              </a:rPr>
              <a:t>Alsvin</a:t>
            </a:r>
            <a:endParaRPr lang="en-US" sz="834" dirty="0"/>
          </a:p>
        </p:txBody>
      </p:sp>
      <p:sp>
        <p:nvSpPr>
          <p:cNvPr id="54" name="Text 51"/>
          <p:cNvSpPr/>
          <p:nvPr/>
        </p:nvSpPr>
        <p:spPr>
          <a:xfrm>
            <a:off x="5819003" y="3005733"/>
            <a:ext cx="1390213" cy="276820"/>
          </a:xfrm>
          <a:prstGeom prst="rect">
            <a:avLst/>
          </a:prstGeom>
          <a:noFill/>
          <a:ln/>
        </p:spPr>
        <p:txBody>
          <a:bodyPr wrap="square" lIns="102108" tIns="68072" rIns="102108" bIns="68072" rtlCol="0" anchor="ctr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834" dirty="0">
                <a:solidFill>
                  <a:srgbClr val="1A1A1A"/>
                </a:solidFill>
              </a:rPr>
              <a:t>260,000</a:t>
            </a:r>
            <a:endParaRPr lang="en-US" sz="834" dirty="0"/>
          </a:p>
        </p:txBody>
      </p:sp>
      <p:sp>
        <p:nvSpPr>
          <p:cNvPr id="55" name="Text 52"/>
          <p:cNvSpPr/>
          <p:nvPr/>
        </p:nvSpPr>
        <p:spPr>
          <a:xfrm>
            <a:off x="7209216" y="3005733"/>
            <a:ext cx="1363284" cy="276820"/>
          </a:xfrm>
          <a:prstGeom prst="rect">
            <a:avLst/>
          </a:prstGeom>
          <a:noFill/>
          <a:ln/>
        </p:spPr>
        <p:txBody>
          <a:bodyPr wrap="square" lIns="102108" tIns="68072" rIns="102108" bIns="68072" rtlCol="0" anchor="ctr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834" dirty="0">
                <a:solidFill>
                  <a:srgbClr val="1A1A1A"/>
                </a:solidFill>
              </a:rPr>
              <a:t>0.98</a:t>
            </a:r>
            <a:endParaRPr lang="en-US" sz="834" dirty="0"/>
          </a:p>
        </p:txBody>
      </p:sp>
      <p:sp>
        <p:nvSpPr>
          <p:cNvPr id="56" name="Text 53"/>
          <p:cNvSpPr/>
          <p:nvPr/>
        </p:nvSpPr>
        <p:spPr>
          <a:xfrm>
            <a:off x="4714875" y="3393281"/>
            <a:ext cx="3857625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834" dirty="0">
                <a:solidFill>
                  <a:srgbClr val="1A1A1A"/>
                </a:solidFill>
              </a:rPr>
              <a:t>Models with high </a:t>
            </a:r>
            <a:r>
              <a:rPr lang="en-US" sz="784" b="1" dirty="0">
                <a:solidFill>
                  <a:srgbClr val="047954"/>
                </a:solidFill>
              </a:rPr>
              <a:t>"Deal Scores"</a:t>
            </a:r>
            <a:r>
              <a:rPr lang="en-US" sz="834" dirty="0">
                <a:solidFill>
                  <a:srgbClr val="1A1A1A"/>
                </a:solidFill>
              </a:rPr>
              <a:t> (0.98-0.99) offer excellent value propositions. These vehicles represent the best opportunities for buyers seeking reliable, affordable options with strong market appeal.</a:t>
            </a:r>
            <a:endParaRPr lang="en-US" sz="834" dirty="0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8FE8FC97-9696-43EB-9D04-CA819B812566}"/>
              </a:ext>
            </a:extLst>
          </p:cNvPr>
          <p:cNvSpPr txBox="1"/>
          <p:nvPr/>
        </p:nvSpPr>
        <p:spPr>
          <a:xfrm>
            <a:off x="8234363" y="4792979"/>
            <a:ext cx="338138" cy="261610"/>
          </a:xfrm>
          <a:prstGeom prst="rect">
            <a:avLst/>
          </a:prstGeom>
          <a:solidFill>
            <a:srgbClr val="1869A6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bg1"/>
                </a:solidFill>
              </a:rPr>
              <a:t>7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0C95EE8C-2375-451B-BFE9-DB85145BE721}"/>
              </a:ext>
            </a:extLst>
          </p:cNvPr>
          <p:cNvGrpSpPr/>
          <p:nvPr/>
        </p:nvGrpSpPr>
        <p:grpSpPr>
          <a:xfrm>
            <a:off x="6703435" y="4539866"/>
            <a:ext cx="1223665" cy="562602"/>
            <a:chOff x="6703435" y="4539866"/>
            <a:chExt cx="1223665" cy="562602"/>
          </a:xfrm>
        </p:grpSpPr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DBFC2523-4D7C-4C08-8CD6-B6FE3E685B77}"/>
                </a:ext>
              </a:extLst>
            </p:cNvPr>
            <p:cNvSpPr txBox="1"/>
            <p:nvPr/>
          </p:nvSpPr>
          <p:spPr>
            <a:xfrm>
              <a:off x="6703435" y="4539866"/>
              <a:ext cx="1160318" cy="562602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endParaRPr lang="en-US" dirty="0"/>
            </a:p>
          </p:txBody>
        </p:sp>
        <p:pic>
          <p:nvPicPr>
            <p:cNvPr id="61" name="Picture 60">
              <a:extLst>
                <a:ext uri="{FF2B5EF4-FFF2-40B4-BE49-F238E27FC236}">
                  <a16:creationId xmlns:a16="http://schemas.microsoft.com/office/drawing/2014/main" id="{ECAB29FD-A23A-4428-8497-0C8234E6F21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992144" y="4792979"/>
              <a:ext cx="934956" cy="242765"/>
            </a:xfrm>
            <a:prstGeom prst="rect">
              <a:avLst/>
            </a:prstGeom>
            <a:noFill/>
          </p:spPr>
        </p:pic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" name="Picture 33">
            <a:extLst>
              <a:ext uri="{FF2B5EF4-FFF2-40B4-BE49-F238E27FC236}">
                <a16:creationId xmlns:a16="http://schemas.microsoft.com/office/drawing/2014/main" id="{73748E64-B7D0-4138-A747-A0B9C98E2F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1500" y="714375"/>
            <a:ext cx="8001000" cy="362545"/>
          </a:xfrm>
          <a:prstGeom prst="rect">
            <a:avLst/>
          </a:prstGeom>
          <a:noFill/>
          <a:ln/>
        </p:spPr>
        <p:txBody>
          <a:bodyPr wrap="none" lIns="0" tIns="0" rIns="0" bIns="42545" rtlCol="0" anchor="t">
            <a:spAutoFit/>
          </a:bodyPr>
          <a:lstStyle/>
          <a:p>
            <a:pPr marL="0" indent="0" algn="l">
              <a:lnSpc>
                <a:spcPts val="2200"/>
              </a:lnSpc>
              <a:buNone/>
            </a:pPr>
            <a:r>
              <a:rPr lang="en-US" sz="1602" b="1" dirty="0">
                <a:solidFill>
                  <a:srgbClr val="1A1A1A"/>
                </a:solidFill>
              </a:rPr>
              <a:t>Geographical &amp; Color Preferences</a:t>
            </a:r>
            <a:endParaRPr lang="en-US" sz="1602" dirty="0"/>
          </a:p>
        </p:txBody>
      </p:sp>
      <p:sp>
        <p:nvSpPr>
          <p:cNvPr id="4" name="Text 1"/>
          <p:cNvSpPr/>
          <p:nvPr/>
        </p:nvSpPr>
        <p:spPr>
          <a:xfrm>
            <a:off x="571500" y="1219795"/>
            <a:ext cx="3857625" cy="23395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193" b="1" dirty="0">
                <a:solidFill>
                  <a:srgbClr val="336EA8"/>
                </a:solidFill>
              </a:rPr>
              <a:t>Top 3 Governorates (by Sales Volume)</a:t>
            </a:r>
            <a:endParaRPr lang="en-US" sz="1193" dirty="0"/>
          </a:p>
        </p:txBody>
      </p:sp>
      <p:sp>
        <p:nvSpPr>
          <p:cNvPr id="5" name="Shape 2"/>
          <p:cNvSpPr/>
          <p:nvPr/>
        </p:nvSpPr>
        <p:spPr>
          <a:xfrm>
            <a:off x="571500" y="1560909"/>
            <a:ext cx="2467412" cy="273248"/>
          </a:xfrm>
          <a:prstGeom prst="rect">
            <a:avLst/>
          </a:prstGeom>
          <a:solidFill>
            <a:srgbClr val="336EA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571500" y="1827014"/>
            <a:ext cx="2467412" cy="7144"/>
          </a:xfrm>
          <a:prstGeom prst="rect">
            <a:avLst/>
          </a:prstGeom>
          <a:solidFill>
            <a:srgbClr val="DDDDD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571500" y="1560909"/>
            <a:ext cx="2467412" cy="273248"/>
          </a:xfrm>
          <a:prstGeom prst="rect">
            <a:avLst/>
          </a:prstGeom>
          <a:noFill/>
          <a:ln/>
        </p:spPr>
        <p:txBody>
          <a:bodyPr wrap="square" lIns="102108" tIns="68072" rIns="102108" bIns="68072" rtlCol="0" anchor="ctr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784" b="1" dirty="0">
                <a:solidFill>
                  <a:srgbClr val="FFFFFF"/>
                </a:solidFill>
              </a:rPr>
              <a:t>Governorate</a:t>
            </a:r>
            <a:endParaRPr lang="en-US" sz="784" dirty="0"/>
          </a:p>
        </p:txBody>
      </p:sp>
      <p:sp>
        <p:nvSpPr>
          <p:cNvPr id="8" name="Shape 5"/>
          <p:cNvSpPr/>
          <p:nvPr/>
        </p:nvSpPr>
        <p:spPr>
          <a:xfrm>
            <a:off x="3038912" y="1560909"/>
            <a:ext cx="1390213" cy="273248"/>
          </a:xfrm>
          <a:prstGeom prst="rect">
            <a:avLst/>
          </a:prstGeom>
          <a:solidFill>
            <a:srgbClr val="336EA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Shape 6"/>
          <p:cNvSpPr/>
          <p:nvPr/>
        </p:nvSpPr>
        <p:spPr>
          <a:xfrm>
            <a:off x="3038912" y="1827014"/>
            <a:ext cx="1390213" cy="7144"/>
          </a:xfrm>
          <a:prstGeom prst="rect">
            <a:avLst/>
          </a:prstGeom>
          <a:solidFill>
            <a:srgbClr val="DDDDD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3038912" y="1560909"/>
            <a:ext cx="1390213" cy="273248"/>
          </a:xfrm>
          <a:prstGeom prst="rect">
            <a:avLst/>
          </a:prstGeom>
          <a:noFill/>
          <a:ln/>
        </p:spPr>
        <p:txBody>
          <a:bodyPr wrap="square" lIns="102108" tIns="68072" rIns="102108" bIns="68072" rtlCol="0" anchor="ctr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784" b="1" dirty="0">
                <a:solidFill>
                  <a:srgbClr val="FFFFFF"/>
                </a:solidFill>
              </a:rPr>
              <a:t>Sales Count</a:t>
            </a:r>
            <a:endParaRPr lang="en-US" sz="784" dirty="0"/>
          </a:p>
        </p:txBody>
      </p:sp>
      <p:sp>
        <p:nvSpPr>
          <p:cNvPr id="11" name="Text 8"/>
          <p:cNvSpPr/>
          <p:nvPr/>
        </p:nvSpPr>
        <p:spPr>
          <a:xfrm>
            <a:off x="571500" y="1830586"/>
            <a:ext cx="2467412" cy="273248"/>
          </a:xfrm>
          <a:prstGeom prst="rect">
            <a:avLst/>
          </a:prstGeom>
          <a:noFill/>
          <a:ln/>
        </p:spPr>
        <p:txBody>
          <a:bodyPr wrap="square" lIns="102108" tIns="68072" rIns="102108" bIns="68072" rtlCol="0" anchor="ctr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834" dirty="0">
                <a:solidFill>
                  <a:srgbClr val="1A1A1A"/>
                </a:solidFill>
              </a:rPr>
              <a:t>Greater Cairo (Tagamo3)</a:t>
            </a:r>
            <a:endParaRPr lang="en-US" sz="834" dirty="0"/>
          </a:p>
        </p:txBody>
      </p:sp>
      <p:sp>
        <p:nvSpPr>
          <p:cNvPr id="12" name="Text 9"/>
          <p:cNvSpPr/>
          <p:nvPr/>
        </p:nvSpPr>
        <p:spPr>
          <a:xfrm>
            <a:off x="3038912" y="1830586"/>
            <a:ext cx="1390213" cy="273248"/>
          </a:xfrm>
          <a:prstGeom prst="rect">
            <a:avLst/>
          </a:prstGeom>
          <a:noFill/>
          <a:ln/>
        </p:spPr>
        <p:txBody>
          <a:bodyPr wrap="square" lIns="102108" tIns="68072" rIns="102108" bIns="68072" rtlCol="0" anchor="ctr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834" dirty="0">
                <a:solidFill>
                  <a:srgbClr val="1A1A1A"/>
                </a:solidFill>
              </a:rPr>
              <a:t>893</a:t>
            </a:r>
            <a:endParaRPr lang="en-US" sz="834" dirty="0"/>
          </a:p>
        </p:txBody>
      </p:sp>
      <p:sp>
        <p:nvSpPr>
          <p:cNvPr id="13" name="Shape 10"/>
          <p:cNvSpPr/>
          <p:nvPr/>
        </p:nvSpPr>
        <p:spPr>
          <a:xfrm>
            <a:off x="571500" y="2103834"/>
            <a:ext cx="3857625" cy="27682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/>
          <p:nvPr/>
        </p:nvSpPr>
        <p:spPr>
          <a:xfrm>
            <a:off x="571500" y="2103834"/>
            <a:ext cx="2467412" cy="276820"/>
          </a:xfrm>
          <a:prstGeom prst="rect">
            <a:avLst/>
          </a:prstGeom>
          <a:noFill/>
          <a:ln/>
        </p:spPr>
        <p:txBody>
          <a:bodyPr wrap="square" lIns="102108" tIns="68072" rIns="102108" bIns="68072" rtlCol="0" anchor="ctr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834" dirty="0">
                <a:solidFill>
                  <a:srgbClr val="1A1A1A"/>
                </a:solidFill>
              </a:rPr>
              <a:t>Suez</a:t>
            </a:r>
            <a:endParaRPr lang="en-US" sz="834" dirty="0"/>
          </a:p>
        </p:txBody>
      </p:sp>
      <p:sp>
        <p:nvSpPr>
          <p:cNvPr id="15" name="Text 12"/>
          <p:cNvSpPr/>
          <p:nvPr/>
        </p:nvSpPr>
        <p:spPr>
          <a:xfrm>
            <a:off x="3038912" y="2103834"/>
            <a:ext cx="1390213" cy="276820"/>
          </a:xfrm>
          <a:prstGeom prst="rect">
            <a:avLst/>
          </a:prstGeom>
          <a:noFill/>
          <a:ln/>
        </p:spPr>
        <p:txBody>
          <a:bodyPr wrap="square" lIns="102108" tIns="68072" rIns="102108" bIns="68072" rtlCol="0" anchor="ctr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834" dirty="0">
                <a:solidFill>
                  <a:srgbClr val="1A1A1A"/>
                </a:solidFill>
              </a:rPr>
              <a:t>510</a:t>
            </a:r>
            <a:endParaRPr lang="en-US" sz="834" dirty="0"/>
          </a:p>
        </p:txBody>
      </p:sp>
      <p:sp>
        <p:nvSpPr>
          <p:cNvPr id="16" name="Text 13"/>
          <p:cNvSpPr/>
          <p:nvPr/>
        </p:nvSpPr>
        <p:spPr>
          <a:xfrm>
            <a:off x="571500" y="2380655"/>
            <a:ext cx="2467412" cy="276820"/>
          </a:xfrm>
          <a:prstGeom prst="rect">
            <a:avLst/>
          </a:prstGeom>
          <a:noFill/>
          <a:ln/>
        </p:spPr>
        <p:txBody>
          <a:bodyPr wrap="square" lIns="102108" tIns="68072" rIns="102108" bIns="68072" rtlCol="0" anchor="ctr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834" dirty="0">
                <a:solidFill>
                  <a:srgbClr val="1A1A1A"/>
                </a:solidFill>
              </a:rPr>
              <a:t>Tanta</a:t>
            </a:r>
            <a:endParaRPr lang="en-US" sz="834" dirty="0"/>
          </a:p>
        </p:txBody>
      </p:sp>
      <p:sp>
        <p:nvSpPr>
          <p:cNvPr id="17" name="Text 14"/>
          <p:cNvSpPr/>
          <p:nvPr/>
        </p:nvSpPr>
        <p:spPr>
          <a:xfrm>
            <a:off x="3038912" y="2380655"/>
            <a:ext cx="1390213" cy="276820"/>
          </a:xfrm>
          <a:prstGeom prst="rect">
            <a:avLst/>
          </a:prstGeom>
          <a:noFill/>
          <a:ln/>
        </p:spPr>
        <p:txBody>
          <a:bodyPr wrap="square" lIns="102108" tIns="68072" rIns="102108" bIns="68072" rtlCol="0" anchor="ctr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834" dirty="0">
                <a:solidFill>
                  <a:srgbClr val="1A1A1A"/>
                </a:solidFill>
              </a:rPr>
              <a:t>265</a:t>
            </a:r>
            <a:endParaRPr lang="en-US" sz="834" dirty="0"/>
          </a:p>
        </p:txBody>
      </p:sp>
      <p:sp>
        <p:nvSpPr>
          <p:cNvPr id="18" name="Text 15"/>
          <p:cNvSpPr/>
          <p:nvPr/>
        </p:nvSpPr>
        <p:spPr>
          <a:xfrm>
            <a:off x="571500" y="2775347"/>
            <a:ext cx="385762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834" dirty="0">
                <a:solidFill>
                  <a:srgbClr val="1A1A1A"/>
                </a:solidFill>
              </a:rPr>
              <a:t>Sales activity is </a:t>
            </a:r>
            <a:r>
              <a:rPr lang="en-US" sz="784" b="1" dirty="0">
                <a:solidFill>
                  <a:srgbClr val="047954"/>
                </a:solidFill>
              </a:rPr>
              <a:t>concentrated in key urban centers</a:t>
            </a:r>
            <a:r>
              <a:rPr lang="en-US" sz="834" dirty="0">
                <a:solidFill>
                  <a:srgbClr val="1A1A1A"/>
                </a:solidFill>
              </a:rPr>
              <a:t>, requiring precise geographical marketing strategies to maximize reach and effectiveness. The dominance of Greater Cairo reflects the high population density and purchasing power in the capital region.</a:t>
            </a:r>
            <a:endParaRPr lang="en-US" sz="834" dirty="0"/>
          </a:p>
        </p:txBody>
      </p:sp>
      <p:sp>
        <p:nvSpPr>
          <p:cNvPr id="19" name="Text 16"/>
          <p:cNvSpPr/>
          <p:nvPr/>
        </p:nvSpPr>
        <p:spPr>
          <a:xfrm>
            <a:off x="4714875" y="1219795"/>
            <a:ext cx="3857625" cy="23395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193" b="1" dirty="0">
                <a:solidFill>
                  <a:srgbClr val="336EA8"/>
                </a:solidFill>
              </a:rPr>
              <a:t>Top 3 Selling Colors</a:t>
            </a:r>
            <a:endParaRPr lang="en-US" sz="1193" dirty="0"/>
          </a:p>
        </p:txBody>
      </p:sp>
      <p:sp>
        <p:nvSpPr>
          <p:cNvPr id="20" name="Shape 17"/>
          <p:cNvSpPr/>
          <p:nvPr/>
        </p:nvSpPr>
        <p:spPr>
          <a:xfrm>
            <a:off x="4714875" y="1560909"/>
            <a:ext cx="1651825" cy="273248"/>
          </a:xfrm>
          <a:prstGeom prst="rect">
            <a:avLst/>
          </a:prstGeom>
          <a:solidFill>
            <a:srgbClr val="336EA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Shape 18"/>
          <p:cNvSpPr/>
          <p:nvPr/>
        </p:nvSpPr>
        <p:spPr>
          <a:xfrm>
            <a:off x="4714875" y="1827014"/>
            <a:ext cx="1651825" cy="7144"/>
          </a:xfrm>
          <a:prstGeom prst="rect">
            <a:avLst/>
          </a:prstGeom>
          <a:solidFill>
            <a:srgbClr val="DDDDD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19"/>
          <p:cNvSpPr/>
          <p:nvPr/>
        </p:nvSpPr>
        <p:spPr>
          <a:xfrm>
            <a:off x="4714875" y="1560909"/>
            <a:ext cx="1651825" cy="273248"/>
          </a:xfrm>
          <a:prstGeom prst="rect">
            <a:avLst/>
          </a:prstGeom>
          <a:noFill/>
          <a:ln/>
        </p:spPr>
        <p:txBody>
          <a:bodyPr wrap="square" lIns="102108" tIns="68072" rIns="102108" bIns="68072" rtlCol="0" anchor="ctr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784" b="1" dirty="0">
                <a:solidFill>
                  <a:srgbClr val="FFFFFF"/>
                </a:solidFill>
              </a:rPr>
              <a:t>Color</a:t>
            </a:r>
            <a:endParaRPr lang="en-US" sz="784" dirty="0"/>
          </a:p>
        </p:txBody>
      </p:sp>
      <p:sp>
        <p:nvSpPr>
          <p:cNvPr id="23" name="Shape 20"/>
          <p:cNvSpPr/>
          <p:nvPr/>
        </p:nvSpPr>
        <p:spPr>
          <a:xfrm>
            <a:off x="6366700" y="1560909"/>
            <a:ext cx="2205800" cy="273248"/>
          </a:xfrm>
          <a:prstGeom prst="rect">
            <a:avLst/>
          </a:prstGeom>
          <a:solidFill>
            <a:srgbClr val="336EA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Shape 21"/>
          <p:cNvSpPr/>
          <p:nvPr/>
        </p:nvSpPr>
        <p:spPr>
          <a:xfrm>
            <a:off x="6366700" y="1827014"/>
            <a:ext cx="2205800" cy="7144"/>
          </a:xfrm>
          <a:prstGeom prst="rect">
            <a:avLst/>
          </a:prstGeom>
          <a:solidFill>
            <a:srgbClr val="DDDDD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2"/>
          <p:cNvSpPr/>
          <p:nvPr/>
        </p:nvSpPr>
        <p:spPr>
          <a:xfrm>
            <a:off x="6366700" y="1560909"/>
            <a:ext cx="2205800" cy="273248"/>
          </a:xfrm>
          <a:prstGeom prst="rect">
            <a:avLst/>
          </a:prstGeom>
          <a:noFill/>
          <a:ln/>
        </p:spPr>
        <p:txBody>
          <a:bodyPr wrap="square" lIns="102108" tIns="68072" rIns="102108" bIns="68072" rtlCol="0" anchor="ctr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784" b="1" dirty="0">
                <a:solidFill>
                  <a:srgbClr val="FFFFFF"/>
                </a:solidFill>
              </a:rPr>
              <a:t>Sales (K)</a:t>
            </a:r>
            <a:endParaRPr lang="en-US" sz="784" dirty="0"/>
          </a:p>
        </p:txBody>
      </p:sp>
      <p:sp>
        <p:nvSpPr>
          <p:cNvPr id="26" name="Text 23"/>
          <p:cNvSpPr/>
          <p:nvPr/>
        </p:nvSpPr>
        <p:spPr>
          <a:xfrm>
            <a:off x="4714875" y="1830586"/>
            <a:ext cx="1651825" cy="273248"/>
          </a:xfrm>
          <a:prstGeom prst="rect">
            <a:avLst/>
          </a:prstGeom>
          <a:noFill/>
          <a:ln/>
        </p:spPr>
        <p:txBody>
          <a:bodyPr wrap="square" lIns="102108" tIns="68072" rIns="102108" bIns="68072" rtlCol="0" anchor="ctr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834" dirty="0">
                <a:solidFill>
                  <a:srgbClr val="1A1A1A"/>
                </a:solidFill>
              </a:rPr>
              <a:t>Silver</a:t>
            </a:r>
            <a:endParaRPr lang="en-US" sz="834" dirty="0"/>
          </a:p>
        </p:txBody>
      </p:sp>
      <p:sp>
        <p:nvSpPr>
          <p:cNvPr id="27" name="Text 24"/>
          <p:cNvSpPr/>
          <p:nvPr/>
        </p:nvSpPr>
        <p:spPr>
          <a:xfrm>
            <a:off x="6366700" y="1830586"/>
            <a:ext cx="2205800" cy="273248"/>
          </a:xfrm>
          <a:prstGeom prst="rect">
            <a:avLst/>
          </a:prstGeom>
          <a:noFill/>
          <a:ln/>
        </p:spPr>
        <p:txBody>
          <a:bodyPr wrap="square" lIns="102108" tIns="68072" rIns="102108" bIns="68072" rtlCol="0" anchor="ctr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834" dirty="0">
                <a:solidFill>
                  <a:srgbClr val="1A1A1A"/>
                </a:solidFill>
              </a:rPr>
              <a:t>5.0K</a:t>
            </a:r>
            <a:endParaRPr lang="en-US" sz="834" dirty="0"/>
          </a:p>
        </p:txBody>
      </p:sp>
      <p:sp>
        <p:nvSpPr>
          <p:cNvPr id="28" name="Shape 25"/>
          <p:cNvSpPr/>
          <p:nvPr/>
        </p:nvSpPr>
        <p:spPr>
          <a:xfrm>
            <a:off x="4714875" y="2103834"/>
            <a:ext cx="3857625" cy="27682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6"/>
          <p:cNvSpPr/>
          <p:nvPr/>
        </p:nvSpPr>
        <p:spPr>
          <a:xfrm>
            <a:off x="4714875" y="2103834"/>
            <a:ext cx="1651825" cy="276820"/>
          </a:xfrm>
          <a:prstGeom prst="rect">
            <a:avLst/>
          </a:prstGeom>
          <a:noFill/>
          <a:ln/>
        </p:spPr>
        <p:txBody>
          <a:bodyPr wrap="square" lIns="102108" tIns="68072" rIns="102108" bIns="68072" rtlCol="0" anchor="ctr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834" dirty="0">
                <a:solidFill>
                  <a:srgbClr val="1A1A1A"/>
                </a:solidFill>
              </a:rPr>
              <a:t>White</a:t>
            </a:r>
            <a:endParaRPr lang="en-US" sz="834" dirty="0"/>
          </a:p>
        </p:txBody>
      </p:sp>
      <p:sp>
        <p:nvSpPr>
          <p:cNvPr id="30" name="Text 27"/>
          <p:cNvSpPr/>
          <p:nvPr/>
        </p:nvSpPr>
        <p:spPr>
          <a:xfrm>
            <a:off x="6366700" y="2103834"/>
            <a:ext cx="2205800" cy="276820"/>
          </a:xfrm>
          <a:prstGeom prst="rect">
            <a:avLst/>
          </a:prstGeom>
          <a:noFill/>
          <a:ln/>
        </p:spPr>
        <p:txBody>
          <a:bodyPr wrap="square" lIns="102108" tIns="68072" rIns="102108" bIns="68072" rtlCol="0" anchor="ctr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834" dirty="0">
                <a:solidFill>
                  <a:srgbClr val="1A1A1A"/>
                </a:solidFill>
              </a:rPr>
              <a:t>5.0K</a:t>
            </a:r>
            <a:endParaRPr lang="en-US" sz="834" dirty="0"/>
          </a:p>
        </p:txBody>
      </p:sp>
      <p:sp>
        <p:nvSpPr>
          <p:cNvPr id="31" name="Text 28"/>
          <p:cNvSpPr/>
          <p:nvPr/>
        </p:nvSpPr>
        <p:spPr>
          <a:xfrm>
            <a:off x="4714875" y="2380655"/>
            <a:ext cx="1651825" cy="276820"/>
          </a:xfrm>
          <a:prstGeom prst="rect">
            <a:avLst/>
          </a:prstGeom>
          <a:noFill/>
          <a:ln/>
        </p:spPr>
        <p:txBody>
          <a:bodyPr wrap="square" lIns="102108" tIns="68072" rIns="102108" bIns="68072" rtlCol="0" anchor="ctr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834" dirty="0">
                <a:solidFill>
                  <a:srgbClr val="1A1A1A"/>
                </a:solidFill>
              </a:rPr>
              <a:t>Black</a:t>
            </a:r>
            <a:endParaRPr lang="en-US" sz="834" dirty="0"/>
          </a:p>
        </p:txBody>
      </p:sp>
      <p:sp>
        <p:nvSpPr>
          <p:cNvPr id="32" name="Text 29"/>
          <p:cNvSpPr/>
          <p:nvPr/>
        </p:nvSpPr>
        <p:spPr>
          <a:xfrm>
            <a:off x="6366700" y="2380655"/>
            <a:ext cx="2205800" cy="276820"/>
          </a:xfrm>
          <a:prstGeom prst="rect">
            <a:avLst/>
          </a:prstGeom>
          <a:noFill/>
          <a:ln/>
        </p:spPr>
        <p:txBody>
          <a:bodyPr wrap="square" lIns="102108" tIns="68072" rIns="102108" bIns="68072" rtlCol="0" anchor="ctr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834" dirty="0">
                <a:solidFill>
                  <a:srgbClr val="1A1A1A"/>
                </a:solidFill>
              </a:rPr>
              <a:t>3.4K</a:t>
            </a:r>
            <a:endParaRPr lang="en-US" sz="834" dirty="0"/>
          </a:p>
        </p:txBody>
      </p:sp>
      <p:sp>
        <p:nvSpPr>
          <p:cNvPr id="33" name="Text 30"/>
          <p:cNvSpPr/>
          <p:nvPr/>
        </p:nvSpPr>
        <p:spPr>
          <a:xfrm>
            <a:off x="4714875" y="2775347"/>
            <a:ext cx="385762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784" b="1" dirty="0">
                <a:solidFill>
                  <a:srgbClr val="047954"/>
                </a:solidFill>
              </a:rPr>
              <a:t>Classic colors are the most demanded</a:t>
            </a:r>
            <a:r>
              <a:rPr lang="en-US" sz="834" dirty="0">
                <a:solidFill>
                  <a:srgbClr val="1A1A1A"/>
                </a:solidFill>
              </a:rPr>
              <a:t>, minimizing resale risk and should be prioritized in inventory management and procurement strategies. The preference for neutral colors reflects buyer confidence in long-term resale value.</a:t>
            </a:r>
            <a:endParaRPr lang="en-US" sz="784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5ACF5B0-3944-40F6-B7A5-FE3C96C5F0C1}"/>
              </a:ext>
            </a:extLst>
          </p:cNvPr>
          <p:cNvSpPr txBox="1"/>
          <p:nvPr/>
        </p:nvSpPr>
        <p:spPr>
          <a:xfrm>
            <a:off x="8234363" y="4792979"/>
            <a:ext cx="338138" cy="261610"/>
          </a:xfrm>
          <a:prstGeom prst="rect">
            <a:avLst/>
          </a:prstGeom>
          <a:solidFill>
            <a:srgbClr val="1869A6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bg1"/>
                </a:solidFill>
              </a:rPr>
              <a:t>8</a:t>
            </a:r>
          </a:p>
        </p:txBody>
      </p:sp>
      <p:grpSp>
        <p:nvGrpSpPr>
          <p:cNvPr id="36" name="Group 35">
            <a:extLst>
              <a:ext uri="{FF2B5EF4-FFF2-40B4-BE49-F238E27FC236}">
                <a16:creationId xmlns:a16="http://schemas.microsoft.com/office/drawing/2014/main" id="{1DBDE3E6-698F-49A3-99CA-A52B98B90328}"/>
              </a:ext>
            </a:extLst>
          </p:cNvPr>
          <p:cNvGrpSpPr/>
          <p:nvPr/>
        </p:nvGrpSpPr>
        <p:grpSpPr>
          <a:xfrm>
            <a:off x="6703435" y="4539866"/>
            <a:ext cx="1223665" cy="562602"/>
            <a:chOff x="6703435" y="4539866"/>
            <a:chExt cx="1223665" cy="562602"/>
          </a:xfrm>
        </p:grpSpPr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FF4A7126-44C9-4501-85DA-01558466A53D}"/>
                </a:ext>
              </a:extLst>
            </p:cNvPr>
            <p:cNvSpPr txBox="1"/>
            <p:nvPr/>
          </p:nvSpPr>
          <p:spPr>
            <a:xfrm>
              <a:off x="6703435" y="4539866"/>
              <a:ext cx="1160318" cy="562602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endParaRPr lang="en-US" dirty="0"/>
            </a:p>
          </p:txBody>
        </p:sp>
        <p:pic>
          <p:nvPicPr>
            <p:cNvPr id="38" name="Picture 37">
              <a:extLst>
                <a:ext uri="{FF2B5EF4-FFF2-40B4-BE49-F238E27FC236}">
                  <a16:creationId xmlns:a16="http://schemas.microsoft.com/office/drawing/2014/main" id="{859A8AF5-8EA0-442F-AC6C-6F878A028BC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992144" y="4792979"/>
              <a:ext cx="934956" cy="242765"/>
            </a:xfrm>
            <a:prstGeom prst="rect">
              <a:avLst/>
            </a:prstGeom>
            <a:noFill/>
          </p:spPr>
        </p:pic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Picture 24">
            <a:extLst>
              <a:ext uri="{FF2B5EF4-FFF2-40B4-BE49-F238E27FC236}">
                <a16:creationId xmlns:a16="http://schemas.microsoft.com/office/drawing/2014/main" id="{B30FFF03-6E1F-4480-B369-ABDD706F2DC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1500" y="714375"/>
            <a:ext cx="8001000" cy="362545"/>
          </a:xfrm>
          <a:prstGeom prst="rect">
            <a:avLst/>
          </a:prstGeom>
          <a:noFill/>
          <a:ln/>
        </p:spPr>
        <p:txBody>
          <a:bodyPr wrap="none" lIns="0" tIns="0" rIns="0" bIns="42545" rtlCol="0" anchor="t">
            <a:spAutoFit/>
          </a:bodyPr>
          <a:lstStyle/>
          <a:p>
            <a:pPr marL="0" indent="0" algn="l">
              <a:lnSpc>
                <a:spcPts val="2200"/>
              </a:lnSpc>
              <a:buNone/>
            </a:pPr>
            <a:r>
              <a:rPr lang="en-US" sz="1602" b="1" dirty="0">
                <a:solidFill>
                  <a:srgbClr val="1A1A1A"/>
                </a:solidFill>
              </a:rPr>
              <a:t>Project Team + Roles</a:t>
            </a:r>
            <a:endParaRPr lang="en-US" sz="1602" dirty="0"/>
          </a:p>
        </p:txBody>
      </p:sp>
      <p:sp>
        <p:nvSpPr>
          <p:cNvPr id="4" name="Text 1"/>
          <p:cNvSpPr/>
          <p:nvPr/>
        </p:nvSpPr>
        <p:spPr>
          <a:xfrm>
            <a:off x="571500" y="1291233"/>
            <a:ext cx="8001000" cy="23395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193" b="1" dirty="0">
                <a:solidFill>
                  <a:srgbClr val="336EA8"/>
                </a:solidFill>
              </a:rPr>
              <a:t>Core Team Members</a:t>
            </a:r>
            <a:endParaRPr lang="en-US" sz="1193" dirty="0"/>
          </a:p>
        </p:txBody>
      </p:sp>
      <p:sp>
        <p:nvSpPr>
          <p:cNvPr id="5" name="Shape 2"/>
          <p:cNvSpPr/>
          <p:nvPr/>
        </p:nvSpPr>
        <p:spPr>
          <a:xfrm>
            <a:off x="571500" y="1632347"/>
            <a:ext cx="2780230" cy="350044"/>
          </a:xfrm>
          <a:prstGeom prst="rect">
            <a:avLst/>
          </a:prstGeom>
          <a:solidFill>
            <a:srgbClr val="336EA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571500" y="1975247"/>
            <a:ext cx="2780230" cy="7144"/>
          </a:xfrm>
          <a:prstGeom prst="rect">
            <a:avLst/>
          </a:prstGeom>
          <a:solidFill>
            <a:srgbClr val="DDDDD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571500" y="1632347"/>
            <a:ext cx="2780230" cy="350044"/>
          </a:xfrm>
          <a:prstGeom prst="rect">
            <a:avLst/>
          </a:prstGeom>
          <a:noFill/>
          <a:ln/>
        </p:spPr>
        <p:txBody>
          <a:bodyPr wrap="square" lIns="127508" tIns="102108" rIns="127508" bIns="102108" rtlCol="0" anchor="ctr">
            <a:spAutoFit/>
          </a:bodyPr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885" b="1" dirty="0">
                <a:solidFill>
                  <a:srgbClr val="FFFFFF"/>
                </a:solidFill>
              </a:rPr>
              <a:t>Team Member</a:t>
            </a:r>
            <a:endParaRPr lang="en-US" sz="885" dirty="0"/>
          </a:p>
        </p:txBody>
      </p:sp>
      <p:sp>
        <p:nvSpPr>
          <p:cNvPr id="8" name="Shape 5"/>
          <p:cNvSpPr/>
          <p:nvPr/>
        </p:nvSpPr>
        <p:spPr>
          <a:xfrm>
            <a:off x="3351730" y="1632347"/>
            <a:ext cx="5220770" cy="350044"/>
          </a:xfrm>
          <a:prstGeom prst="rect">
            <a:avLst/>
          </a:prstGeom>
          <a:solidFill>
            <a:srgbClr val="336EA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Shape 6"/>
          <p:cNvSpPr/>
          <p:nvPr/>
        </p:nvSpPr>
        <p:spPr>
          <a:xfrm>
            <a:off x="3351730" y="1975247"/>
            <a:ext cx="5220770" cy="7144"/>
          </a:xfrm>
          <a:prstGeom prst="rect">
            <a:avLst/>
          </a:prstGeom>
          <a:solidFill>
            <a:srgbClr val="DDDDD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3351730" y="1632347"/>
            <a:ext cx="5220770" cy="350044"/>
          </a:xfrm>
          <a:prstGeom prst="rect">
            <a:avLst/>
          </a:prstGeom>
          <a:noFill/>
          <a:ln/>
        </p:spPr>
        <p:txBody>
          <a:bodyPr wrap="square" lIns="127508" tIns="102108" rIns="127508" bIns="102108" rtlCol="0" anchor="ctr">
            <a:spAutoFit/>
          </a:bodyPr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885" b="1" dirty="0">
                <a:solidFill>
                  <a:srgbClr val="FFFFFF"/>
                </a:solidFill>
              </a:rPr>
              <a:t>Role &amp; Responsibilities</a:t>
            </a:r>
            <a:endParaRPr lang="en-US" sz="885" dirty="0"/>
          </a:p>
        </p:txBody>
      </p:sp>
      <p:sp>
        <p:nvSpPr>
          <p:cNvPr id="11" name="Text 8"/>
          <p:cNvSpPr/>
          <p:nvPr/>
        </p:nvSpPr>
        <p:spPr>
          <a:xfrm>
            <a:off x="571500" y="1977094"/>
            <a:ext cx="2780230" cy="353495"/>
          </a:xfrm>
          <a:prstGeom prst="rect">
            <a:avLst/>
          </a:prstGeom>
          <a:noFill/>
          <a:ln/>
        </p:spPr>
        <p:txBody>
          <a:bodyPr wrap="square" lIns="127508" tIns="102108" rIns="127508" bIns="102108" rtlCol="0" anchor="ctr">
            <a:spAutoFit/>
          </a:bodyPr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942" dirty="0">
                <a:solidFill>
                  <a:srgbClr val="1A1A1A"/>
                </a:solidFill>
              </a:rPr>
              <a:t>Michael </a:t>
            </a:r>
            <a:r>
              <a:rPr lang="en-US" sz="942" dirty="0" err="1">
                <a:solidFill>
                  <a:srgbClr val="1A1A1A"/>
                </a:solidFill>
              </a:rPr>
              <a:t>Samoel</a:t>
            </a:r>
            <a:r>
              <a:rPr lang="en-US" sz="942" dirty="0">
                <a:solidFill>
                  <a:srgbClr val="1A1A1A"/>
                </a:solidFill>
              </a:rPr>
              <a:t> </a:t>
            </a:r>
            <a:r>
              <a:rPr lang="en-US" sz="942" dirty="0" err="1">
                <a:solidFill>
                  <a:srgbClr val="1A1A1A"/>
                </a:solidFill>
              </a:rPr>
              <a:t>Dawod</a:t>
            </a:r>
            <a:endParaRPr lang="en-US" sz="942" dirty="0"/>
          </a:p>
        </p:txBody>
      </p:sp>
      <p:sp>
        <p:nvSpPr>
          <p:cNvPr id="12" name="Text 9"/>
          <p:cNvSpPr/>
          <p:nvPr/>
        </p:nvSpPr>
        <p:spPr>
          <a:xfrm>
            <a:off x="3351730" y="1884166"/>
            <a:ext cx="5220770" cy="661271"/>
          </a:xfrm>
          <a:prstGeom prst="rect">
            <a:avLst/>
          </a:prstGeom>
          <a:noFill/>
          <a:ln/>
        </p:spPr>
        <p:txBody>
          <a:bodyPr wrap="square" lIns="127508" tIns="102108" rIns="127508" bIns="102108" rtlCol="0" anchor="ctr">
            <a:spAutoFit/>
          </a:bodyPr>
          <a:lstStyle/>
          <a:p>
            <a:pPr>
              <a:lnSpc>
                <a:spcPts val="1200"/>
              </a:lnSpc>
            </a:pPr>
            <a:r>
              <a:rPr lang="en-US" sz="942" dirty="0">
                <a:solidFill>
                  <a:srgbClr val="1A1A1A"/>
                </a:solidFill>
              </a:rPr>
              <a:t>Data Analysis &amp; Statistical Insights &amp; Visualization &amp; Dashboard Design &amp; Market Research &amp; Insights Documentation &amp; Presentation. (Team Leader).</a:t>
            </a:r>
            <a:endParaRPr lang="en-US" sz="942" dirty="0"/>
          </a:p>
          <a:p>
            <a:pPr marL="0" indent="0" algn="l">
              <a:lnSpc>
                <a:spcPts val="1200"/>
              </a:lnSpc>
              <a:buNone/>
            </a:pPr>
            <a:endParaRPr lang="en-US" sz="942" dirty="0"/>
          </a:p>
        </p:txBody>
      </p:sp>
      <p:sp>
        <p:nvSpPr>
          <p:cNvPr id="13" name="Shape 10"/>
          <p:cNvSpPr/>
          <p:nvPr/>
        </p:nvSpPr>
        <p:spPr>
          <a:xfrm>
            <a:off x="607219" y="2362795"/>
            <a:ext cx="8001000" cy="353616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14" name="Text 11"/>
          <p:cNvSpPr/>
          <p:nvPr/>
        </p:nvSpPr>
        <p:spPr>
          <a:xfrm>
            <a:off x="571500" y="2328863"/>
            <a:ext cx="2780230" cy="353616"/>
          </a:xfrm>
          <a:prstGeom prst="rect">
            <a:avLst/>
          </a:prstGeom>
          <a:noFill/>
          <a:ln/>
        </p:spPr>
        <p:txBody>
          <a:bodyPr wrap="square" lIns="127508" tIns="102108" rIns="127508" bIns="102108" rtlCol="0" anchor="ctr">
            <a:spAutoFit/>
          </a:bodyPr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942" dirty="0">
                <a:solidFill>
                  <a:srgbClr val="1A1A1A"/>
                </a:solidFill>
              </a:rPr>
              <a:t>Toka Ghonim</a:t>
            </a:r>
            <a:endParaRPr lang="en-US" sz="942" dirty="0"/>
          </a:p>
        </p:txBody>
      </p:sp>
      <p:sp>
        <p:nvSpPr>
          <p:cNvPr id="15" name="Text 12"/>
          <p:cNvSpPr/>
          <p:nvPr/>
        </p:nvSpPr>
        <p:spPr>
          <a:xfrm>
            <a:off x="3351730" y="2328863"/>
            <a:ext cx="5220770" cy="353616"/>
          </a:xfrm>
          <a:prstGeom prst="rect">
            <a:avLst/>
          </a:prstGeom>
          <a:noFill/>
          <a:ln/>
        </p:spPr>
        <p:txBody>
          <a:bodyPr wrap="square" lIns="127508" tIns="102108" rIns="127508" bIns="102108" rtlCol="0" anchor="ctr">
            <a:spAutoFit/>
          </a:bodyPr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942" dirty="0">
                <a:solidFill>
                  <a:srgbClr val="1A1A1A"/>
                </a:solidFill>
              </a:rPr>
              <a:t>Data Visualization &amp; Dashboard Design</a:t>
            </a:r>
            <a:endParaRPr lang="en-US" sz="942" dirty="0"/>
          </a:p>
        </p:txBody>
      </p:sp>
      <p:sp>
        <p:nvSpPr>
          <p:cNvPr id="16" name="Text 13"/>
          <p:cNvSpPr/>
          <p:nvPr/>
        </p:nvSpPr>
        <p:spPr>
          <a:xfrm>
            <a:off x="571500" y="2682478"/>
            <a:ext cx="2780230" cy="353616"/>
          </a:xfrm>
          <a:prstGeom prst="rect">
            <a:avLst/>
          </a:prstGeom>
          <a:noFill/>
          <a:ln/>
        </p:spPr>
        <p:txBody>
          <a:bodyPr wrap="square" lIns="127508" tIns="102108" rIns="127508" bIns="102108" rtlCol="0" anchor="ctr">
            <a:spAutoFit/>
          </a:bodyPr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942" dirty="0">
                <a:solidFill>
                  <a:srgbClr val="1A1A1A"/>
                </a:solidFill>
              </a:rPr>
              <a:t>Abd Elrahman Khaled</a:t>
            </a:r>
            <a:endParaRPr lang="en-US" sz="942" dirty="0"/>
          </a:p>
        </p:txBody>
      </p:sp>
      <p:sp>
        <p:nvSpPr>
          <p:cNvPr id="17" name="Text 14"/>
          <p:cNvSpPr/>
          <p:nvPr/>
        </p:nvSpPr>
        <p:spPr>
          <a:xfrm>
            <a:off x="3351730" y="2682478"/>
            <a:ext cx="5220770" cy="353616"/>
          </a:xfrm>
          <a:prstGeom prst="rect">
            <a:avLst/>
          </a:prstGeom>
          <a:noFill/>
          <a:ln/>
        </p:spPr>
        <p:txBody>
          <a:bodyPr wrap="square" lIns="127508" tIns="102108" rIns="127508" bIns="102108" rtlCol="0" anchor="ctr">
            <a:spAutoFit/>
          </a:bodyPr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942" dirty="0">
                <a:solidFill>
                  <a:srgbClr val="1A1A1A"/>
                </a:solidFill>
              </a:rPr>
              <a:t>Market Research &amp; Insights Documentation</a:t>
            </a:r>
            <a:endParaRPr lang="en-US" sz="942" dirty="0"/>
          </a:p>
        </p:txBody>
      </p:sp>
      <p:sp>
        <p:nvSpPr>
          <p:cNvPr id="18" name="Shape 15"/>
          <p:cNvSpPr/>
          <p:nvPr/>
        </p:nvSpPr>
        <p:spPr>
          <a:xfrm>
            <a:off x="571500" y="3036094"/>
            <a:ext cx="8001000" cy="353616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6"/>
          <p:cNvSpPr/>
          <p:nvPr/>
        </p:nvSpPr>
        <p:spPr>
          <a:xfrm>
            <a:off x="571500" y="3036094"/>
            <a:ext cx="2780230" cy="353616"/>
          </a:xfrm>
          <a:prstGeom prst="rect">
            <a:avLst/>
          </a:prstGeom>
          <a:noFill/>
          <a:ln/>
        </p:spPr>
        <p:txBody>
          <a:bodyPr wrap="square" lIns="127508" tIns="102108" rIns="127508" bIns="102108" rtlCol="0" anchor="ctr">
            <a:spAutoFit/>
          </a:bodyPr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942" dirty="0">
                <a:solidFill>
                  <a:srgbClr val="1A1A1A"/>
                </a:solidFill>
              </a:rPr>
              <a:t>Fahim Aziz</a:t>
            </a:r>
            <a:endParaRPr lang="en-US" sz="942" dirty="0"/>
          </a:p>
        </p:txBody>
      </p:sp>
      <p:sp>
        <p:nvSpPr>
          <p:cNvPr id="20" name="Text 17"/>
          <p:cNvSpPr/>
          <p:nvPr/>
        </p:nvSpPr>
        <p:spPr>
          <a:xfrm>
            <a:off x="3351730" y="3036094"/>
            <a:ext cx="5220770" cy="353616"/>
          </a:xfrm>
          <a:prstGeom prst="rect">
            <a:avLst/>
          </a:prstGeom>
          <a:noFill/>
          <a:ln/>
        </p:spPr>
        <p:txBody>
          <a:bodyPr wrap="square" lIns="127508" tIns="102108" rIns="127508" bIns="102108" rtlCol="0" anchor="ctr">
            <a:spAutoFit/>
          </a:bodyPr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942" dirty="0">
                <a:solidFill>
                  <a:srgbClr val="1A1A1A"/>
                </a:solidFill>
              </a:rPr>
              <a:t>Project Coordination &amp; Presentation</a:t>
            </a:r>
            <a:endParaRPr lang="en-US" sz="942" dirty="0"/>
          </a:p>
        </p:txBody>
      </p:sp>
      <p:sp>
        <p:nvSpPr>
          <p:cNvPr id="21" name="Shape 18"/>
          <p:cNvSpPr/>
          <p:nvPr/>
        </p:nvSpPr>
        <p:spPr>
          <a:xfrm>
            <a:off x="571500" y="3607594"/>
            <a:ext cx="8001000" cy="935831"/>
          </a:xfrm>
          <a:prstGeom prst="rect">
            <a:avLst/>
          </a:prstGeom>
          <a:solidFill>
            <a:srgbClr val="F0F0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Shape 19"/>
          <p:cNvSpPr/>
          <p:nvPr/>
        </p:nvSpPr>
        <p:spPr>
          <a:xfrm>
            <a:off x="571500" y="3607594"/>
            <a:ext cx="45719" cy="935831"/>
          </a:xfrm>
          <a:prstGeom prst="rect">
            <a:avLst/>
          </a:prstGeom>
          <a:solidFill>
            <a:srgbClr val="04795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0"/>
          <p:cNvSpPr/>
          <p:nvPr/>
        </p:nvSpPr>
        <p:spPr>
          <a:xfrm>
            <a:off x="714375" y="3893344"/>
            <a:ext cx="7715250" cy="19466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987" b="1" dirty="0">
                <a:solidFill>
                  <a:srgbClr val="047954"/>
                </a:solidFill>
              </a:rPr>
              <a:t>Project Supervisor</a:t>
            </a:r>
            <a:endParaRPr lang="en-US" sz="987" dirty="0"/>
          </a:p>
        </p:txBody>
      </p:sp>
      <p:sp>
        <p:nvSpPr>
          <p:cNvPr id="24" name="Text 21"/>
          <p:cNvSpPr/>
          <p:nvPr/>
        </p:nvSpPr>
        <p:spPr>
          <a:xfrm>
            <a:off x="714375" y="4216598"/>
            <a:ext cx="7715250" cy="17502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942" dirty="0">
                <a:solidFill>
                  <a:srgbClr val="1A1A1A"/>
                </a:solidFill>
              </a:rPr>
              <a:t>Eng. Sherihan Ali</a:t>
            </a:r>
            <a:endParaRPr lang="en-US" sz="942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158B813-9D7A-4E37-9009-97E988018023}"/>
              </a:ext>
            </a:extLst>
          </p:cNvPr>
          <p:cNvSpPr txBox="1"/>
          <p:nvPr/>
        </p:nvSpPr>
        <p:spPr>
          <a:xfrm>
            <a:off x="8234363" y="4792979"/>
            <a:ext cx="338138" cy="261610"/>
          </a:xfrm>
          <a:prstGeom prst="rect">
            <a:avLst/>
          </a:prstGeom>
          <a:solidFill>
            <a:srgbClr val="1869A6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bg1"/>
                </a:solidFill>
              </a:rPr>
              <a:t>9</a:t>
            </a: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C4E7BE3C-3EAC-4F14-AC91-8B8BB2D4662F}"/>
              </a:ext>
            </a:extLst>
          </p:cNvPr>
          <p:cNvGrpSpPr/>
          <p:nvPr/>
        </p:nvGrpSpPr>
        <p:grpSpPr>
          <a:xfrm>
            <a:off x="6703435" y="4539866"/>
            <a:ext cx="1223665" cy="562602"/>
            <a:chOff x="6703435" y="4539866"/>
            <a:chExt cx="1223665" cy="562602"/>
          </a:xfrm>
        </p:grpSpPr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552828B6-E46E-49B2-94BA-EBD6F0B70F32}"/>
                </a:ext>
              </a:extLst>
            </p:cNvPr>
            <p:cNvSpPr txBox="1"/>
            <p:nvPr/>
          </p:nvSpPr>
          <p:spPr>
            <a:xfrm>
              <a:off x="6703435" y="4539866"/>
              <a:ext cx="1160318" cy="562602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endParaRPr lang="en-US" dirty="0"/>
            </a:p>
          </p:txBody>
        </p:sp>
        <p:pic>
          <p:nvPicPr>
            <p:cNvPr id="29" name="Picture 28">
              <a:extLst>
                <a:ext uri="{FF2B5EF4-FFF2-40B4-BE49-F238E27FC236}">
                  <a16:creationId xmlns:a16="http://schemas.microsoft.com/office/drawing/2014/main" id="{8B39B50B-DA80-4D32-86CB-4675E4D3F6A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992144" y="4792979"/>
              <a:ext cx="934956" cy="242765"/>
            </a:xfrm>
            <a:prstGeom prst="rect">
              <a:avLst/>
            </a:prstGeom>
            <a:noFill/>
          </p:spPr>
        </p:pic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Picture 25">
            <a:extLst>
              <a:ext uri="{FF2B5EF4-FFF2-40B4-BE49-F238E27FC236}">
                <a16:creationId xmlns:a16="http://schemas.microsoft.com/office/drawing/2014/main" id="{C6BB1197-792E-4BDD-8B4D-723BE5641D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1500" y="714375"/>
            <a:ext cx="1783758" cy="307135"/>
          </a:xfrm>
          <a:prstGeom prst="rect">
            <a:avLst/>
          </a:prstGeom>
          <a:noFill/>
          <a:ln/>
        </p:spPr>
        <p:txBody>
          <a:bodyPr wrap="none" lIns="0" tIns="0" rIns="0" bIns="42545" rtlCol="0" anchor="t">
            <a:spAutoFit/>
          </a:bodyPr>
          <a:lstStyle/>
          <a:p>
            <a:pPr marL="0" indent="0" algn="l">
              <a:lnSpc>
                <a:spcPts val="2200"/>
              </a:lnSpc>
              <a:buNone/>
            </a:pPr>
            <a:r>
              <a:rPr lang="en-US" sz="1602" b="1" dirty="0">
                <a:solidFill>
                  <a:srgbClr val="1A1A1A"/>
                </a:solidFill>
              </a:rPr>
              <a:t>Contact information</a:t>
            </a:r>
            <a:r>
              <a:rPr lang="ar-EG" sz="1602" b="1" dirty="0">
                <a:solidFill>
                  <a:srgbClr val="1A1A1A"/>
                </a:solidFill>
              </a:rPr>
              <a:t>:</a:t>
            </a:r>
            <a:endParaRPr lang="en-US" sz="1602" dirty="0"/>
          </a:p>
        </p:txBody>
      </p:sp>
      <p:sp>
        <p:nvSpPr>
          <p:cNvPr id="4" name="Shape 1"/>
          <p:cNvSpPr/>
          <p:nvPr/>
        </p:nvSpPr>
        <p:spPr>
          <a:xfrm>
            <a:off x="571500" y="1162645"/>
            <a:ext cx="3957638" cy="1274322"/>
          </a:xfrm>
          <a:prstGeom prst="rect">
            <a:avLst/>
          </a:prstGeom>
          <a:solidFill>
            <a:srgbClr val="F9F9F9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5" name="Shape 2"/>
          <p:cNvSpPr/>
          <p:nvPr/>
        </p:nvSpPr>
        <p:spPr>
          <a:xfrm>
            <a:off x="571500" y="1162645"/>
            <a:ext cx="35719" cy="1274322"/>
          </a:xfrm>
          <a:prstGeom prst="rect">
            <a:avLst/>
          </a:prstGeom>
          <a:solidFill>
            <a:srgbClr val="336EA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642938" y="1234083"/>
            <a:ext cx="3814763" cy="31253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2200"/>
              </a:lnSpc>
              <a:buNone/>
            </a:pPr>
            <a:r>
              <a:rPr lang="en-US" sz="1602" b="1" dirty="0">
                <a:solidFill>
                  <a:srgbClr val="047954"/>
                </a:solidFill>
              </a:rPr>
              <a:t>1</a:t>
            </a:r>
            <a:endParaRPr lang="en-US" sz="1602" dirty="0"/>
          </a:p>
        </p:txBody>
      </p:sp>
      <p:sp>
        <p:nvSpPr>
          <p:cNvPr id="7" name="Text 4"/>
          <p:cNvSpPr/>
          <p:nvPr/>
        </p:nvSpPr>
        <p:spPr>
          <a:xfrm>
            <a:off x="642938" y="1653332"/>
            <a:ext cx="1410643" cy="14536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>
              <a:lnSpc>
                <a:spcPts val="1200"/>
              </a:lnSpc>
            </a:pPr>
            <a:r>
              <a:rPr lang="en-US" sz="885" b="1" dirty="0">
                <a:solidFill>
                  <a:srgbClr val="1A1A1A"/>
                </a:solidFill>
              </a:rPr>
              <a:t>Michael </a:t>
            </a:r>
            <a:r>
              <a:rPr lang="en-US" sz="885" b="1" dirty="0" err="1">
                <a:solidFill>
                  <a:srgbClr val="1A1A1A"/>
                </a:solidFill>
              </a:rPr>
              <a:t>Samoel</a:t>
            </a:r>
            <a:r>
              <a:rPr lang="en-US" sz="885" b="1" dirty="0">
                <a:solidFill>
                  <a:srgbClr val="1A1A1A"/>
                </a:solidFill>
              </a:rPr>
              <a:t> </a:t>
            </a:r>
            <a:r>
              <a:rPr lang="en-US" sz="885" b="1" dirty="0" err="1">
                <a:solidFill>
                  <a:srgbClr val="1A1A1A"/>
                </a:solidFill>
              </a:rPr>
              <a:t>Dawod</a:t>
            </a:r>
            <a:r>
              <a:rPr lang="en-US" sz="885" b="1" dirty="0">
                <a:solidFill>
                  <a:srgbClr val="1A1A1A"/>
                </a:solidFill>
              </a:rPr>
              <a:t> </a:t>
            </a:r>
            <a:r>
              <a:rPr lang="en-US" sz="885" b="1" dirty="0" err="1">
                <a:solidFill>
                  <a:srgbClr val="1A1A1A"/>
                </a:solidFill>
              </a:rPr>
              <a:t>Fanos</a:t>
            </a:r>
            <a:endParaRPr lang="en-US" sz="885" b="1" dirty="0">
              <a:solidFill>
                <a:srgbClr val="1A1A1A"/>
              </a:solidFill>
            </a:endParaRPr>
          </a:p>
        </p:txBody>
      </p:sp>
      <p:sp>
        <p:nvSpPr>
          <p:cNvPr id="8" name="Text 5"/>
          <p:cNvSpPr/>
          <p:nvPr/>
        </p:nvSpPr>
        <p:spPr>
          <a:xfrm>
            <a:off x="642938" y="1942654"/>
            <a:ext cx="3814763" cy="29758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834" b="1" dirty="0">
                <a:solidFill>
                  <a:srgbClr val="333333"/>
                </a:solidFill>
              </a:rPr>
              <a:t>Mail : </a:t>
            </a:r>
            <a:r>
              <a:rPr lang="en-US" sz="834" dirty="0">
                <a:solidFill>
                  <a:srgbClr val="333333"/>
                </a:solidFill>
                <a:hlinkClick r:id="rId4"/>
              </a:rPr>
              <a:t>Michael.samoel31@Gmail.com</a:t>
            </a:r>
            <a:br>
              <a:rPr lang="en-US" sz="834" dirty="0">
                <a:solidFill>
                  <a:srgbClr val="333333"/>
                </a:solidFill>
              </a:rPr>
            </a:br>
            <a:r>
              <a:rPr lang="en-US" sz="834" b="1" dirty="0">
                <a:solidFill>
                  <a:srgbClr val="333333"/>
                </a:solidFill>
              </a:rPr>
              <a:t>Mobile: </a:t>
            </a:r>
            <a:r>
              <a:rPr lang="en-US" sz="834" dirty="0">
                <a:solidFill>
                  <a:srgbClr val="333333"/>
                </a:solidFill>
              </a:rPr>
              <a:t>+201202884784</a:t>
            </a:r>
            <a:endParaRPr lang="en-US" sz="834" dirty="0"/>
          </a:p>
        </p:txBody>
      </p:sp>
      <p:sp>
        <p:nvSpPr>
          <p:cNvPr id="9" name="Shape 6"/>
          <p:cNvSpPr/>
          <p:nvPr/>
        </p:nvSpPr>
        <p:spPr>
          <a:xfrm>
            <a:off x="4614863" y="1162645"/>
            <a:ext cx="3957638" cy="1274322"/>
          </a:xfrm>
          <a:prstGeom prst="rect">
            <a:avLst/>
          </a:prstGeom>
          <a:solidFill>
            <a:srgbClr val="F9F9F9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10" name="Shape 7"/>
          <p:cNvSpPr/>
          <p:nvPr/>
        </p:nvSpPr>
        <p:spPr>
          <a:xfrm>
            <a:off x="4614863" y="1162645"/>
            <a:ext cx="35719" cy="1274322"/>
          </a:xfrm>
          <a:prstGeom prst="rect">
            <a:avLst/>
          </a:prstGeom>
          <a:solidFill>
            <a:srgbClr val="336EA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4686300" y="1234083"/>
            <a:ext cx="3814763" cy="31253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2200"/>
              </a:lnSpc>
              <a:buNone/>
            </a:pPr>
            <a:r>
              <a:rPr lang="en-US" sz="1602" b="1" dirty="0">
                <a:solidFill>
                  <a:srgbClr val="047954"/>
                </a:solidFill>
              </a:rPr>
              <a:t>2</a:t>
            </a:r>
            <a:endParaRPr lang="en-US" sz="1602" dirty="0"/>
          </a:p>
        </p:txBody>
      </p:sp>
      <p:sp>
        <p:nvSpPr>
          <p:cNvPr id="12" name="Text 9"/>
          <p:cNvSpPr/>
          <p:nvPr/>
        </p:nvSpPr>
        <p:spPr>
          <a:xfrm>
            <a:off x="4686300" y="1653332"/>
            <a:ext cx="1181414" cy="14536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885" b="1" dirty="0">
                <a:solidFill>
                  <a:srgbClr val="1A1A1A"/>
                </a:solidFill>
              </a:rPr>
              <a:t>Fahim Aziz Ebrahim Isaac</a:t>
            </a:r>
            <a:endParaRPr lang="en-US" sz="885" dirty="0"/>
          </a:p>
        </p:txBody>
      </p:sp>
      <p:sp>
        <p:nvSpPr>
          <p:cNvPr id="13" name="Text 10"/>
          <p:cNvSpPr/>
          <p:nvPr/>
        </p:nvSpPr>
        <p:spPr>
          <a:xfrm>
            <a:off x="4686300" y="1942654"/>
            <a:ext cx="3814763" cy="3085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834" b="1" dirty="0">
                <a:solidFill>
                  <a:srgbClr val="333333"/>
                </a:solidFill>
              </a:rPr>
              <a:t>Mail : </a:t>
            </a:r>
            <a:r>
              <a:rPr lang="en-US" sz="834" dirty="0">
                <a:solidFill>
                  <a:srgbClr val="333333"/>
                </a:solidFill>
                <a:hlinkClick r:id="rId5"/>
              </a:rPr>
              <a:t>Fahimazizguide@gmail.com</a:t>
            </a:r>
            <a:endParaRPr lang="en-US" sz="834" dirty="0">
              <a:solidFill>
                <a:srgbClr val="333333"/>
              </a:solidFill>
            </a:endParaRPr>
          </a:p>
          <a:p>
            <a:pPr marL="0" indent="0" algn="l">
              <a:lnSpc>
                <a:spcPts val="1200"/>
              </a:lnSpc>
              <a:buNone/>
            </a:pPr>
            <a:r>
              <a:rPr lang="en-US" sz="834" b="1" dirty="0">
                <a:solidFill>
                  <a:srgbClr val="333333"/>
                </a:solidFill>
              </a:rPr>
              <a:t>Mobile</a:t>
            </a:r>
            <a:r>
              <a:rPr lang="en-US" sz="834" dirty="0">
                <a:solidFill>
                  <a:srgbClr val="333333"/>
                </a:solidFill>
              </a:rPr>
              <a:t>: +201278095038</a:t>
            </a:r>
            <a:endParaRPr lang="en-US" sz="834" dirty="0"/>
          </a:p>
        </p:txBody>
      </p:sp>
      <p:sp>
        <p:nvSpPr>
          <p:cNvPr id="14" name="Shape 11"/>
          <p:cNvSpPr/>
          <p:nvPr/>
        </p:nvSpPr>
        <p:spPr>
          <a:xfrm>
            <a:off x="571500" y="2522693"/>
            <a:ext cx="3957638" cy="1274322"/>
          </a:xfrm>
          <a:prstGeom prst="rect">
            <a:avLst/>
          </a:prstGeom>
          <a:solidFill>
            <a:srgbClr val="F9F9F9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15" name="Shape 12"/>
          <p:cNvSpPr/>
          <p:nvPr/>
        </p:nvSpPr>
        <p:spPr>
          <a:xfrm>
            <a:off x="571500" y="2522693"/>
            <a:ext cx="35719" cy="1274322"/>
          </a:xfrm>
          <a:prstGeom prst="rect">
            <a:avLst/>
          </a:prstGeom>
          <a:solidFill>
            <a:srgbClr val="336EA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/>
          <p:nvPr/>
        </p:nvSpPr>
        <p:spPr>
          <a:xfrm>
            <a:off x="642938" y="2594130"/>
            <a:ext cx="3814763" cy="31253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2200"/>
              </a:lnSpc>
              <a:buNone/>
            </a:pPr>
            <a:r>
              <a:rPr lang="en-US" sz="1602" b="1" dirty="0">
                <a:solidFill>
                  <a:srgbClr val="047954"/>
                </a:solidFill>
              </a:rPr>
              <a:t>3</a:t>
            </a:r>
            <a:endParaRPr lang="en-US" sz="1602" dirty="0"/>
          </a:p>
        </p:txBody>
      </p:sp>
      <p:sp>
        <p:nvSpPr>
          <p:cNvPr id="17" name="Text 14"/>
          <p:cNvSpPr/>
          <p:nvPr/>
        </p:nvSpPr>
        <p:spPr>
          <a:xfrm>
            <a:off x="642938" y="3013379"/>
            <a:ext cx="1187826" cy="14536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885" b="1" dirty="0" err="1">
                <a:solidFill>
                  <a:srgbClr val="1A1A1A"/>
                </a:solidFill>
              </a:rPr>
              <a:t>Toka</a:t>
            </a:r>
            <a:r>
              <a:rPr lang="en-US" sz="885" b="1" dirty="0">
                <a:solidFill>
                  <a:srgbClr val="1A1A1A"/>
                </a:solidFill>
              </a:rPr>
              <a:t> </a:t>
            </a:r>
            <a:r>
              <a:rPr lang="en-US" sz="885" b="1" dirty="0" err="1">
                <a:solidFill>
                  <a:srgbClr val="1A1A1A"/>
                </a:solidFill>
              </a:rPr>
              <a:t>Elsayed</a:t>
            </a:r>
            <a:r>
              <a:rPr lang="en-US" sz="885" b="1" dirty="0">
                <a:solidFill>
                  <a:srgbClr val="1A1A1A"/>
                </a:solidFill>
              </a:rPr>
              <a:t> Aly Ghonim</a:t>
            </a:r>
            <a:endParaRPr lang="en-US" sz="885" dirty="0"/>
          </a:p>
        </p:txBody>
      </p:sp>
      <p:sp>
        <p:nvSpPr>
          <p:cNvPr id="18" name="Text 15"/>
          <p:cNvSpPr/>
          <p:nvPr/>
        </p:nvSpPr>
        <p:spPr>
          <a:xfrm>
            <a:off x="642938" y="3302701"/>
            <a:ext cx="3814763" cy="29758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834" b="1" dirty="0">
                <a:solidFill>
                  <a:srgbClr val="333333"/>
                </a:solidFill>
              </a:rPr>
              <a:t>Mail </a:t>
            </a:r>
            <a:r>
              <a:rPr lang="en-US" sz="834" dirty="0">
                <a:solidFill>
                  <a:srgbClr val="333333"/>
                </a:solidFill>
              </a:rPr>
              <a:t>: </a:t>
            </a:r>
            <a:r>
              <a:rPr lang="en-US" sz="834" dirty="0">
                <a:solidFill>
                  <a:srgbClr val="333333"/>
                </a:solidFill>
                <a:hlinkClick r:id="rId6"/>
              </a:rPr>
              <a:t>taka.ghonam123@gmail.com</a:t>
            </a:r>
            <a:endParaRPr lang="en-US" sz="834" dirty="0">
              <a:solidFill>
                <a:srgbClr val="333333"/>
              </a:solidFill>
            </a:endParaRPr>
          </a:p>
          <a:p>
            <a:pPr marL="0" indent="0" algn="l">
              <a:lnSpc>
                <a:spcPts val="1200"/>
              </a:lnSpc>
              <a:buNone/>
            </a:pPr>
            <a:r>
              <a:rPr lang="en-US" sz="834" b="1" dirty="0">
                <a:solidFill>
                  <a:srgbClr val="333333"/>
                </a:solidFill>
              </a:rPr>
              <a:t>Mobile: </a:t>
            </a:r>
            <a:r>
              <a:rPr lang="en-US" sz="834" dirty="0">
                <a:solidFill>
                  <a:srgbClr val="333333"/>
                </a:solidFill>
              </a:rPr>
              <a:t>+201016041453</a:t>
            </a:r>
            <a:endParaRPr lang="en-US" sz="834" dirty="0"/>
          </a:p>
        </p:txBody>
      </p:sp>
      <p:sp>
        <p:nvSpPr>
          <p:cNvPr id="19" name="Shape 16"/>
          <p:cNvSpPr/>
          <p:nvPr/>
        </p:nvSpPr>
        <p:spPr>
          <a:xfrm>
            <a:off x="4614863" y="2522693"/>
            <a:ext cx="3957638" cy="1274322"/>
          </a:xfrm>
          <a:prstGeom prst="rect">
            <a:avLst/>
          </a:prstGeom>
          <a:solidFill>
            <a:srgbClr val="F9F9F9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20" name="Shape 17"/>
          <p:cNvSpPr/>
          <p:nvPr/>
        </p:nvSpPr>
        <p:spPr>
          <a:xfrm>
            <a:off x="4614863" y="2522693"/>
            <a:ext cx="35719" cy="1274322"/>
          </a:xfrm>
          <a:prstGeom prst="rect">
            <a:avLst/>
          </a:prstGeom>
          <a:solidFill>
            <a:srgbClr val="336EA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8"/>
          <p:cNvSpPr/>
          <p:nvPr/>
        </p:nvSpPr>
        <p:spPr>
          <a:xfrm>
            <a:off x="4686300" y="2594130"/>
            <a:ext cx="3814763" cy="31253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2200"/>
              </a:lnSpc>
              <a:buNone/>
            </a:pPr>
            <a:r>
              <a:rPr lang="en-US" sz="1602" b="1" dirty="0">
                <a:solidFill>
                  <a:srgbClr val="047954"/>
                </a:solidFill>
              </a:rPr>
              <a:t>4</a:t>
            </a:r>
            <a:endParaRPr lang="en-US" sz="1602" dirty="0"/>
          </a:p>
        </p:txBody>
      </p:sp>
      <p:sp>
        <p:nvSpPr>
          <p:cNvPr id="22" name="Text 19"/>
          <p:cNvSpPr/>
          <p:nvPr/>
        </p:nvSpPr>
        <p:spPr>
          <a:xfrm>
            <a:off x="4686300" y="3013379"/>
            <a:ext cx="1495602" cy="14536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885" b="1" dirty="0">
                <a:solidFill>
                  <a:srgbClr val="1A1A1A"/>
                </a:solidFill>
              </a:rPr>
              <a:t>Abdelrahman Khalid Abdo Amir</a:t>
            </a:r>
            <a:endParaRPr lang="en-US" sz="885" dirty="0"/>
          </a:p>
        </p:txBody>
      </p:sp>
      <p:sp>
        <p:nvSpPr>
          <p:cNvPr id="23" name="Text 20"/>
          <p:cNvSpPr/>
          <p:nvPr/>
        </p:nvSpPr>
        <p:spPr>
          <a:xfrm>
            <a:off x="4686300" y="3302701"/>
            <a:ext cx="3814763" cy="29758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834" b="1" dirty="0">
                <a:solidFill>
                  <a:srgbClr val="333333"/>
                </a:solidFill>
              </a:rPr>
              <a:t>Mail : </a:t>
            </a:r>
            <a:r>
              <a:rPr lang="en-US" sz="834" dirty="0">
                <a:solidFill>
                  <a:srgbClr val="333333"/>
                </a:solidFill>
                <a:hlinkClick r:id="rId7"/>
              </a:rPr>
              <a:t>Abdelrhman_Khalid1994@outlook.com</a:t>
            </a:r>
            <a:endParaRPr lang="en-US" sz="834" dirty="0">
              <a:solidFill>
                <a:srgbClr val="333333"/>
              </a:solidFill>
            </a:endParaRPr>
          </a:p>
          <a:p>
            <a:pPr marL="0" indent="0" algn="l">
              <a:lnSpc>
                <a:spcPts val="1200"/>
              </a:lnSpc>
              <a:buNone/>
            </a:pPr>
            <a:r>
              <a:rPr lang="en-US" sz="834" b="1" dirty="0">
                <a:solidFill>
                  <a:srgbClr val="333333"/>
                </a:solidFill>
              </a:rPr>
              <a:t>Mobile: </a:t>
            </a:r>
            <a:r>
              <a:rPr lang="en-US" sz="834" dirty="0">
                <a:solidFill>
                  <a:srgbClr val="333333"/>
                </a:solidFill>
              </a:rPr>
              <a:t>+201004481386</a:t>
            </a:r>
            <a:endParaRPr lang="en-US" sz="834" dirty="0"/>
          </a:p>
        </p:txBody>
      </p:sp>
      <p:sp>
        <p:nvSpPr>
          <p:cNvPr id="24" name="Text 21"/>
          <p:cNvSpPr/>
          <p:nvPr/>
        </p:nvSpPr>
        <p:spPr>
          <a:xfrm>
            <a:off x="571500" y="4191344"/>
            <a:ext cx="8001000" cy="38933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ts val="2700"/>
              </a:lnSpc>
              <a:buNone/>
            </a:pPr>
            <a:r>
              <a:rPr lang="en-US" sz="2016" b="1" dirty="0">
                <a:solidFill>
                  <a:srgbClr val="1A1A1A"/>
                </a:solidFill>
              </a:rPr>
              <a:t>Thank You</a:t>
            </a:r>
            <a:endParaRPr lang="en-US" sz="2016" dirty="0"/>
          </a:p>
        </p:txBody>
      </p:sp>
      <p:sp>
        <p:nvSpPr>
          <p:cNvPr id="25" name="Text 22"/>
          <p:cNvSpPr/>
          <p:nvPr/>
        </p:nvSpPr>
        <p:spPr>
          <a:xfrm>
            <a:off x="685800" y="4534970"/>
            <a:ext cx="8001000" cy="16000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ts val="1300"/>
              </a:lnSpc>
              <a:buNone/>
            </a:pPr>
            <a:r>
              <a:rPr lang="en-US" sz="834" dirty="0">
                <a:solidFill>
                  <a:srgbClr val="333333"/>
                </a:solidFill>
              </a:rPr>
              <a:t>For questions or feedback, please contact the project team. We welcome your insights.</a:t>
            </a:r>
            <a:endParaRPr lang="en-US" sz="834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59E6969-957B-4D5F-AD02-1E9A697B2EF3}"/>
              </a:ext>
            </a:extLst>
          </p:cNvPr>
          <p:cNvSpPr txBox="1"/>
          <p:nvPr/>
        </p:nvSpPr>
        <p:spPr>
          <a:xfrm>
            <a:off x="8234363" y="4792979"/>
            <a:ext cx="338138" cy="261610"/>
          </a:xfrm>
          <a:prstGeom prst="rect">
            <a:avLst/>
          </a:prstGeom>
          <a:solidFill>
            <a:srgbClr val="1869A6"/>
          </a:solidFill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bg1"/>
                </a:solidFill>
              </a:rPr>
              <a:t>10</a:t>
            </a: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F7C222F1-ABA2-49DC-BA15-C585D606DD1F}"/>
              </a:ext>
            </a:extLst>
          </p:cNvPr>
          <p:cNvGrpSpPr/>
          <p:nvPr/>
        </p:nvGrpSpPr>
        <p:grpSpPr>
          <a:xfrm>
            <a:off x="6703435" y="4539866"/>
            <a:ext cx="1223665" cy="562602"/>
            <a:chOff x="6703435" y="4539866"/>
            <a:chExt cx="1223665" cy="562602"/>
          </a:xfrm>
        </p:grpSpPr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01C68DF4-543C-4D19-B86F-8F1D5CE0B899}"/>
                </a:ext>
              </a:extLst>
            </p:cNvPr>
            <p:cNvSpPr txBox="1"/>
            <p:nvPr/>
          </p:nvSpPr>
          <p:spPr>
            <a:xfrm>
              <a:off x="6703435" y="4539866"/>
              <a:ext cx="1160318" cy="562602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endParaRPr lang="en-US" dirty="0"/>
            </a:p>
          </p:txBody>
        </p:sp>
        <p:pic>
          <p:nvPicPr>
            <p:cNvPr id="30" name="Picture 29">
              <a:extLst>
                <a:ext uri="{FF2B5EF4-FFF2-40B4-BE49-F238E27FC236}">
                  <a16:creationId xmlns:a16="http://schemas.microsoft.com/office/drawing/2014/main" id="{5634A755-2B79-42B4-A42A-9DD8317E39AE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6992144" y="4792979"/>
              <a:ext cx="934956" cy="242765"/>
            </a:xfrm>
            <a:prstGeom prst="rect">
              <a:avLst/>
            </a:prstGeom>
            <a:noFill/>
          </p:spPr>
        </p:pic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4469</TotalTime>
  <Words>1149</Words>
  <Application>Microsoft Office PowerPoint</Application>
  <PresentationFormat>On-screen Show (16:9)</PresentationFormat>
  <Paragraphs>219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2" baseType="lpstr"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Fahim Isaac</cp:lastModifiedBy>
  <cp:revision>11</cp:revision>
  <dcterms:created xsi:type="dcterms:W3CDTF">2025-11-29T15:47:16Z</dcterms:created>
  <dcterms:modified xsi:type="dcterms:W3CDTF">2025-12-12T07:27:46Z</dcterms:modified>
</cp:coreProperties>
</file>