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02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hyperlink" Target="mailto:Abdelrhman_Khalid1994@outlook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aka.ghonam123@gmail.com" TargetMode="External"/><Relationship Id="rId5" Type="http://schemas.openxmlformats.org/officeDocument/2006/relationships/hyperlink" Target="mailto:Fahimazizguide@gmail.com" TargetMode="External"/><Relationship Id="rId4" Type="http://schemas.openxmlformats.org/officeDocument/2006/relationships/hyperlink" Target="mailto:Michael.samoel31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5AAD7E-7669-429E-A770-EB97E5FA8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877816"/>
            <a:ext cx="77152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Analysis of the Used Car Market in Egypt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319172" y="1575002"/>
            <a:ext cx="6505628" cy="3063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800" dirty="0">
                <a:solidFill>
                  <a:srgbClr val="336EA8"/>
                </a:solidFill>
              </a:rPr>
              <a:t>Factors Influencing Prices and Market Trends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823275" y="1993979"/>
            <a:ext cx="54974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47954"/>
                </a:solidFill>
              </a:rPr>
              <a:t>Team Members:</a:t>
            </a:r>
            <a:r>
              <a:rPr lang="en-US" sz="1050" dirty="0">
                <a:solidFill>
                  <a:srgbClr val="1A1A1A"/>
                </a:solidFill>
              </a:rPr>
              <a:t> Michael Samuel, Toka Ghonim, Abd Elrahman Khaled, Fahim Aziz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1823275" y="2398591"/>
            <a:ext cx="54974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47954"/>
                </a:solidFill>
              </a:rPr>
              <a:t>Supervisor:</a:t>
            </a:r>
            <a:r>
              <a:rPr lang="en-US" sz="1050" dirty="0">
                <a:solidFill>
                  <a:srgbClr val="1A1A1A"/>
                </a:solidFill>
              </a:rPr>
              <a:t> Eng. Sherihan Ali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823275" y="3915175"/>
            <a:ext cx="54974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47954"/>
                </a:solidFill>
              </a:rPr>
              <a:t>Date:</a:t>
            </a:r>
            <a:r>
              <a:rPr lang="en-US" sz="1050" dirty="0">
                <a:solidFill>
                  <a:srgbClr val="1A1A1A"/>
                </a:solidFill>
              </a:rPr>
              <a:t> 31 October 2025</a:t>
            </a:r>
            <a:endParaRPr lang="en-US" sz="98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A1C76-48F4-4C7F-8619-896C205472F0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2131A0-AF7B-40B3-9DE9-5C53F4122A1E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3A0B9B-0155-4251-B98B-079795E5F259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50A4A2-B949-4D04-80AC-D721D323C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4DFDC82-69F8-4A4E-8511-43A4FC134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67519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Idea: Problem, Solution, Value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72939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Problem Statement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14375" y="1678335"/>
            <a:ext cx="7858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The Egyptian used car market faces challenges related to a lack of transparency and difficulty in determining fair prices, affecting buyer and seller confidence.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23264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Proposed Solution &amp; Value Proposition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714375" y="2538040"/>
            <a:ext cx="4235134" cy="18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Solution: Analyze used car market data to understand key factors influencing prices.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2815196"/>
            <a:ext cx="5810886" cy="18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Value: Provide clear, data-driven insights and recommendations to support decision-making for market participants.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316378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Key Findings (Executive Summary)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14375" y="3483471"/>
            <a:ext cx="20166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Economic Segment Dominance: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350033" y="3483471"/>
            <a:ext cx="45567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Over 87% of sales are concentrated in "Cheap" and "Affordable" categories.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714375" y="3760626"/>
            <a:ext cx="162818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Persistent Price Increase: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342564" y="3760626"/>
            <a:ext cx="58036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The market has seen a sharp and sustained price increase since 2016 due to economic inflation.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14375" y="4037781"/>
            <a:ext cx="16329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Preference for Reliability: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2342565" y="4072049"/>
            <a:ext cx="6743070" cy="18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Demand is focused on reliable, affordable models (e.g., Lanos, Verna) with a near-equal split between manual and automatic transmission.</a:t>
            </a:r>
            <a:endParaRPr lang="en-US" sz="942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7410D9-EF20-480B-9762-98C7A56E4A5F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2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C84259-3A3F-4E4B-87DF-92AE727BA7D7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4EB322-29CD-4E0A-8D7C-06C07F852164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77ED497-15DF-40F0-AF7B-9DCED724D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FE233B2-363B-45ED-8D2F-74ED508C1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67519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Data Visualizations: Market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72939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6EA8"/>
                </a:solidFill>
              </a:rPr>
              <a:t>32,000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567607"/>
            <a:ext cx="3857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6EA8"/>
                </a:solidFill>
              </a:rPr>
              <a:t>Total Used Vehicles Sold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71500" y="1905149"/>
            <a:ext cx="1619176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2171254"/>
            <a:ext cx="1619176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905149"/>
            <a:ext cx="161917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Price Segment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2190676" y="1905149"/>
            <a:ext cx="1214131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90676" y="2171254"/>
            <a:ext cx="1214131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190676" y="1905149"/>
            <a:ext cx="1214131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Units Sold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3404806" y="1905149"/>
            <a:ext cx="1024319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4806" y="2171254"/>
            <a:ext cx="1024319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04806" y="1905149"/>
            <a:ext cx="1024319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Share %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71500" y="2174825"/>
            <a:ext cx="161917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Cheap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2190676" y="2174825"/>
            <a:ext cx="1214131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21,000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3404806" y="2174825"/>
            <a:ext cx="1024319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65.6%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571500" y="2448074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2448074"/>
            <a:ext cx="161917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Affordable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190676" y="2448074"/>
            <a:ext cx="1214131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6,912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3404806" y="2448074"/>
            <a:ext cx="1024319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21.6%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571500" y="2724894"/>
            <a:ext cx="161917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Mid-range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190676" y="2724894"/>
            <a:ext cx="1214131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3,244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3404806" y="2724894"/>
            <a:ext cx="1024319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10.1%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3001714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1500" y="3001714"/>
            <a:ext cx="161917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Expensive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190676" y="3001714"/>
            <a:ext cx="1214131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988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3404806" y="3001714"/>
            <a:ext cx="1024319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3.1%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571500" y="3278535"/>
            <a:ext cx="161917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Extreme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2190676" y="3278535"/>
            <a:ext cx="1214131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116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3404806" y="3278535"/>
            <a:ext cx="1024319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0.4%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571500" y="3701802"/>
            <a:ext cx="3857625" cy="32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Analysis: Over 87% of sales are concentrated in the "Cheap"</a:t>
            </a:r>
            <a:r>
              <a:rPr lang="ar-EG" sz="834" dirty="0">
                <a:solidFill>
                  <a:srgbClr val="1A1A1A"/>
                </a:solidFill>
              </a:rPr>
              <a:t> </a:t>
            </a:r>
            <a:r>
              <a:rPr lang="en-US" sz="834" dirty="0">
                <a:solidFill>
                  <a:srgbClr val="1A1A1A"/>
                </a:solidFill>
              </a:rPr>
              <a:t>and "Affordable" categories, confirming that </a:t>
            </a:r>
            <a:r>
              <a:rPr lang="en-US" sz="834" b="1" dirty="0">
                <a:solidFill>
                  <a:srgbClr val="1A1A1A"/>
                </a:solidFill>
              </a:rPr>
              <a:t>Value for Money </a:t>
            </a:r>
            <a:r>
              <a:rPr lang="en-US" sz="834" dirty="0">
                <a:solidFill>
                  <a:srgbClr val="1A1A1A"/>
                </a:solidFill>
              </a:rPr>
              <a:t>is the primary market driver.</a:t>
            </a:r>
            <a:endParaRPr lang="en-US" sz="834" dirty="0"/>
          </a:p>
        </p:txBody>
      </p:sp>
      <p:pic>
        <p:nvPicPr>
          <p:cNvPr id="38" name="Google Shape;174;p7">
            <a:extLst>
              <a:ext uri="{FF2B5EF4-FFF2-40B4-BE49-F238E27FC236}">
                <a16:creationId xmlns:a16="http://schemas.microsoft.com/office/drawing/2014/main" id="{3A344BBD-6B8F-447A-BB21-E3E0B0A4142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3190" y="1372939"/>
            <a:ext cx="4446510" cy="24888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30FFA92-5F52-456A-B7F3-6C0BB8244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956" y="1402947"/>
            <a:ext cx="4366264" cy="243086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86C7EF3-75D4-40CA-AF52-56A5AA56EAE3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3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1180136-F30D-40FA-97FA-7B032F2E2EE2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68BE3E-FEA0-43C3-8C7A-6B87BB82965D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2FDC355-1132-4EA5-A998-1C4E2AFB2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ACD2F6EF-B07A-488A-90CF-ED0570291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Market Segmentation &amp; Key Findings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26952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Top 5 Brands by Volume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632347"/>
            <a:ext cx="1846408" cy="21609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841302"/>
            <a:ext cx="1846408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632347"/>
            <a:ext cx="1846408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Brand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2417908" y="1632347"/>
            <a:ext cx="2011217" cy="21609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417908" y="1841302"/>
            <a:ext cx="2011217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17908" y="1632347"/>
            <a:ext cx="2011217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Units Sold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1844873"/>
            <a:ext cx="1846408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Hyundai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2417908" y="1844873"/>
            <a:ext cx="2011217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6,500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060972"/>
            <a:ext cx="3857625" cy="21967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" y="2060972"/>
            <a:ext cx="1846408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Fiat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417908" y="2060972"/>
            <a:ext cx="2011217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6,200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2280642"/>
            <a:ext cx="1846408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Chevrolet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417908" y="2280642"/>
            <a:ext cx="2011217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5,300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571500" y="2500313"/>
            <a:ext cx="3857625" cy="21967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2500313"/>
            <a:ext cx="1846408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Nissan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2417908" y="2500313"/>
            <a:ext cx="2011217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1,100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71500" y="2719983"/>
            <a:ext cx="1846408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Kia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417908" y="2719983"/>
            <a:ext cx="2011217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1,100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571500" y="3050381"/>
            <a:ext cx="1404231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Top 3 Models by Sales</a:t>
            </a:r>
            <a:endParaRPr lang="en-US" sz="1193" dirty="0"/>
          </a:p>
        </p:txBody>
      </p:sp>
      <p:sp>
        <p:nvSpPr>
          <p:cNvPr id="24" name="Shape 21"/>
          <p:cNvSpPr/>
          <p:nvPr/>
        </p:nvSpPr>
        <p:spPr>
          <a:xfrm>
            <a:off x="571500" y="3355777"/>
            <a:ext cx="1637733" cy="21609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71500" y="3564731"/>
            <a:ext cx="1637733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71500" y="3355777"/>
            <a:ext cx="1637733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Model</a:t>
            </a:r>
            <a:endParaRPr lang="en-US" sz="784" dirty="0"/>
          </a:p>
        </p:txBody>
      </p:sp>
      <p:sp>
        <p:nvSpPr>
          <p:cNvPr id="27" name="Shape 24"/>
          <p:cNvSpPr/>
          <p:nvPr/>
        </p:nvSpPr>
        <p:spPr>
          <a:xfrm>
            <a:off x="2209233" y="3355777"/>
            <a:ext cx="2219892" cy="21609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209233" y="3564731"/>
            <a:ext cx="2219892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2430213" y="3355777"/>
            <a:ext cx="2219892" cy="216098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Units Sold</a:t>
            </a:r>
            <a:endParaRPr lang="en-US" sz="784" dirty="0"/>
          </a:p>
        </p:txBody>
      </p:sp>
      <p:sp>
        <p:nvSpPr>
          <p:cNvPr id="32" name="Shape 29"/>
          <p:cNvSpPr/>
          <p:nvPr/>
        </p:nvSpPr>
        <p:spPr>
          <a:xfrm>
            <a:off x="571500" y="3784402"/>
            <a:ext cx="3857625" cy="21967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71500" y="3543020"/>
            <a:ext cx="1637733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Verna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2477838" y="3554824"/>
            <a:ext cx="2219892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2,177</a:t>
            </a:r>
            <a:endParaRPr lang="en-US" sz="834" dirty="0"/>
          </a:p>
        </p:txBody>
      </p:sp>
      <p:sp>
        <p:nvSpPr>
          <p:cNvPr id="35" name="Text 32"/>
          <p:cNvSpPr/>
          <p:nvPr/>
        </p:nvSpPr>
        <p:spPr>
          <a:xfrm>
            <a:off x="571500" y="4004072"/>
            <a:ext cx="1637733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Optra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2460693" y="4004072"/>
            <a:ext cx="2219892" cy="21967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1,675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714875" y="1326952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Consumer Preferences</a:t>
            </a:r>
            <a:endParaRPr lang="en-US" sz="1193" dirty="0"/>
          </a:p>
        </p:txBody>
      </p:sp>
      <p:sp>
        <p:nvSpPr>
          <p:cNvPr id="43" name="Text 40"/>
          <p:cNvSpPr/>
          <p:nvPr/>
        </p:nvSpPr>
        <p:spPr>
          <a:xfrm>
            <a:off x="4714875" y="1668066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Transmission Type</a:t>
            </a:r>
            <a:endParaRPr lang="en-US" sz="885" dirty="0"/>
          </a:p>
        </p:txBody>
      </p:sp>
      <p:sp>
        <p:nvSpPr>
          <p:cNvPr id="44" name="Text 41"/>
          <p:cNvSpPr/>
          <p:nvPr/>
        </p:nvSpPr>
        <p:spPr>
          <a:xfrm>
            <a:off x="4714875" y="1900238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Manual:</a:t>
            </a:r>
            <a:r>
              <a:rPr lang="en-US" sz="834" dirty="0">
                <a:solidFill>
                  <a:srgbClr val="1A1A1A"/>
                </a:solidFill>
              </a:rPr>
              <a:t> 15,962 units (50.1%)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4714875" y="2117396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Automatic:</a:t>
            </a:r>
            <a:r>
              <a:rPr lang="en-US" sz="834" dirty="0">
                <a:solidFill>
                  <a:srgbClr val="1A1A1A"/>
                </a:solidFill>
              </a:rPr>
              <a:t> 15,881 units (49.9%)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4714875" y="2348843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The near-perfect balance indicates a diverse buyer base with no strong preference for one type over the other.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4714875" y="2783160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Fuel Category</a:t>
            </a:r>
            <a:endParaRPr lang="en-US" sz="885" dirty="0"/>
          </a:p>
        </p:txBody>
      </p:sp>
      <p:sp>
        <p:nvSpPr>
          <p:cNvPr id="48" name="Text 45"/>
          <p:cNvSpPr/>
          <p:nvPr/>
        </p:nvSpPr>
        <p:spPr>
          <a:xfrm>
            <a:off x="4714875" y="3015332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Benzine:</a:t>
            </a:r>
            <a:r>
              <a:rPr lang="en-US" sz="834" dirty="0">
                <a:solidFill>
                  <a:srgbClr val="1A1A1A"/>
                </a:solidFill>
              </a:rPr>
              <a:t> 96.34%</a:t>
            </a:r>
            <a:endParaRPr lang="en-US" sz="784" dirty="0"/>
          </a:p>
        </p:txBody>
      </p:sp>
      <p:sp>
        <p:nvSpPr>
          <p:cNvPr id="49" name="Text 46"/>
          <p:cNvSpPr/>
          <p:nvPr/>
        </p:nvSpPr>
        <p:spPr>
          <a:xfrm>
            <a:off x="4714875" y="3232491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Diesel:</a:t>
            </a:r>
            <a:r>
              <a:rPr lang="en-US" sz="834" dirty="0">
                <a:solidFill>
                  <a:srgbClr val="1A1A1A"/>
                </a:solidFill>
              </a:rPr>
              <a:t> 0.88%</a:t>
            </a:r>
            <a:endParaRPr lang="en-US" sz="784" dirty="0"/>
          </a:p>
        </p:txBody>
      </p:sp>
      <p:sp>
        <p:nvSpPr>
          <p:cNvPr id="50" name="Text 47"/>
          <p:cNvSpPr/>
          <p:nvPr/>
        </p:nvSpPr>
        <p:spPr>
          <a:xfrm>
            <a:off x="4714875" y="3449650"/>
            <a:ext cx="38576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Eco-Friendly:</a:t>
            </a:r>
            <a:r>
              <a:rPr lang="en-US" sz="834" dirty="0">
                <a:solidFill>
                  <a:srgbClr val="1A1A1A"/>
                </a:solidFill>
              </a:rPr>
              <a:t> 2.78%</a:t>
            </a:r>
            <a:endParaRPr lang="en-US" sz="784" dirty="0"/>
          </a:p>
        </p:txBody>
      </p:sp>
      <p:sp>
        <p:nvSpPr>
          <p:cNvPr id="51" name="Text 48"/>
          <p:cNvSpPr/>
          <p:nvPr/>
        </p:nvSpPr>
        <p:spPr>
          <a:xfrm>
            <a:off x="4714875" y="3681096"/>
            <a:ext cx="38576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Benzine's overwhelming dominance reflects limited adoption of alternative fuels in the used car market.</a:t>
            </a:r>
            <a:endParaRPr lang="en-US" sz="834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E6BAFA-6C6A-4E2F-AFBA-45CA78BC0DD0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5BDC87D-0913-418E-A99B-4E88D40395F4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596D7B1-5B91-4B53-A3D0-0E02CC35202D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6A2385A-7E5E-49C3-91BF-5FD36B318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  <p:sp>
        <p:nvSpPr>
          <p:cNvPr id="31" name="Text 28"/>
          <p:cNvSpPr/>
          <p:nvPr/>
        </p:nvSpPr>
        <p:spPr>
          <a:xfrm>
            <a:off x="2477838" y="3794235"/>
            <a:ext cx="2219892" cy="20281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1700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567055" y="3768832"/>
            <a:ext cx="1637733" cy="20281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Lanos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1ECE8B3-6F9B-4F18-8CA2-5069BF35B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Data Source &amp; Methodology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1979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Data Source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714375" y="1518047"/>
            <a:ext cx="10260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CSV file containing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1542332" y="1518047"/>
            <a:ext cx="8146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32,000 records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174091" y="1518047"/>
            <a:ext cx="17769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of used car transactions in Egypt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14375" y="1710928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Data collected from market transactions spanning multiple years (2010-2022)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1953816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Key Data Fields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14375" y="2244923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Brand, Model, Year, Final Price, Transmission Type, Fuel Category, Classification, Color, Governorate, Engine Size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14375" y="2444948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Balanced dataset with no single brand dominating the data collection process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687836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Data Cleaning &amp; Preparation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714375" y="2978944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Handling missing values and standardizing data formats (e.g., price normalization to EGP)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714375" y="3178969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Categorizing vehicles into price segments: Cheap, Affordable, Mid-range, Expensive, Extreme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14375" y="3378994"/>
            <a:ext cx="7858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Classification of vehicle condition: Heavily Used, Moderately Used, Lightly Used, Nearly New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3621881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Key Metrics (KPIs)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714375" y="3920133"/>
            <a:ext cx="10982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Total Sales Volume: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1919267" y="3920133"/>
            <a:ext cx="683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32,000 units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714375" y="4120158"/>
            <a:ext cx="9745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Average Car Age: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1909891" y="4120158"/>
            <a:ext cx="6404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16.42 years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714375" y="4320183"/>
            <a:ext cx="1505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Market Share by Segment: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1922433" y="4320183"/>
            <a:ext cx="46836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Cheap (65.6%), Affordable (21.6%), Mid-range (10.1%), Expensive (3.1%), Extreme (0.4%)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714375" y="4520208"/>
            <a:ext cx="729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Price Trends: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1923460" y="4520208"/>
            <a:ext cx="29156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Sharp and sustained price increase from 2016 to 2022</a:t>
            </a:r>
            <a:endParaRPr lang="en-US" sz="834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269858-8748-44F1-AB74-4BA837BC4DFF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B7E4A4-B0CD-4C00-8310-75BB67CC6B9F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24C1A3-4491-449C-99B8-857F728D38EB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CB7C853-C678-485E-B8E3-EAE53BE31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B3B0A16-7B62-4088-A3B6-C1FD2DB7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Tools &amp; Techniques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1979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Programming Languages &amp; Tools Used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714375" y="1572161"/>
            <a:ext cx="125322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Microsoft Power BI: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895475" y="1325645"/>
            <a:ext cx="6682740" cy="1130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1000" dirty="0"/>
            </a:br>
            <a:r>
              <a:rPr lang="en-US" sz="1000" dirty="0"/>
              <a:t>All project steps were completed entirely within Power BI, from importing and cleaning the data to transforming it for analysis.</a:t>
            </a:r>
            <a:br>
              <a:rPr lang="en-US" sz="1000" dirty="0"/>
            </a:br>
            <a:r>
              <a:rPr lang="en-US" sz="1000" dirty="0"/>
              <a:t>The tool was used to explore the dataset, generate key insights, and create clear analytical visuals.</a:t>
            </a:r>
            <a:br>
              <a:rPr lang="en-US" sz="1000" dirty="0"/>
            </a:br>
            <a:r>
              <a:rPr lang="en-US" sz="1000" dirty="0"/>
              <a:t>Interactive dashboards were developed to present the findings in an intuitive and dynamic way.</a:t>
            </a:r>
            <a:br>
              <a:rPr lang="en-US" sz="1000" dirty="0"/>
            </a:br>
            <a:r>
              <a:rPr lang="en-US" sz="1000" dirty="0"/>
              <a:t>Overall, the full workflow—preparation, analysis, and reporting—was executed smoothly using Power BI.</a:t>
            </a:r>
          </a:p>
        </p:txBody>
      </p:sp>
      <p:sp>
        <p:nvSpPr>
          <p:cNvPr id="13" name="Text 10"/>
          <p:cNvSpPr/>
          <p:nvPr/>
        </p:nvSpPr>
        <p:spPr>
          <a:xfrm>
            <a:off x="571500" y="2762399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Analytical Techniques Applied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14375" y="3139232"/>
            <a:ext cx="13827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Descriptive Statistics: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895475" y="3117451"/>
            <a:ext cx="41176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Calculated mean, median, and standard deviation for price analysis.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14375" y="3416387"/>
            <a:ext cx="117788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Data Aggregation: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1892257" y="3416387"/>
            <a:ext cx="558752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Grouped data by brand, model, price segment, and governorate to identify market patterns.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714375" y="3693542"/>
            <a:ext cx="15079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Segmentation Analysis: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1895475" y="3693542"/>
            <a:ext cx="6677025" cy="39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Classified vehicles into price categories (Cheap, Affordable, Mid-range, Expensive, Extreme) and condition categories (Heavily Used, Moderately Used, Lightly Used, Nearly New).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714375" y="4176415"/>
            <a:ext cx="131997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47954"/>
                </a:solidFill>
              </a:rPr>
              <a:t>Price Trend Analysis: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895475" y="4176415"/>
            <a:ext cx="63421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Analyzed historical price trends from 2016 to 2022 to identify inflationary patterns and market dynamics.</a:t>
            </a:r>
            <a:endParaRPr lang="en-US" sz="942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697A14-BFF8-413E-A8F2-3BB777EA6757}"/>
              </a:ext>
            </a:extLst>
          </p:cNvPr>
          <p:cNvSpPr/>
          <p:nvPr/>
        </p:nvSpPr>
        <p:spPr>
          <a:xfrm>
            <a:off x="571500" y="1890799"/>
            <a:ext cx="142875" cy="7694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D9F1FD-71E4-43AB-84EA-148CA98D6458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59B122-DD86-4D66-8B85-82CF1DA0B6EA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01DA7B9-025F-40D8-A12D-93241339C38D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B94C6AB-ACBA-41DE-AEBB-8E8B7081E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A77FB727-0C4B-4C84-92F0-38F5613D5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Vehicle Condition &amp; Best Deals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26952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Vehicle Condition Classification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632347"/>
            <a:ext cx="1702026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898452"/>
            <a:ext cx="1702026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632347"/>
            <a:ext cx="170202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Classification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2273526" y="1632347"/>
            <a:ext cx="1169203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273526" y="1898452"/>
            <a:ext cx="1169203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73526" y="1632347"/>
            <a:ext cx="116920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Units Sold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3442729" y="1632347"/>
            <a:ext cx="986396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42729" y="1898452"/>
            <a:ext cx="986396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42729" y="1632347"/>
            <a:ext cx="98639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Share %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571500" y="1902023"/>
            <a:ext cx="170202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Heavily Used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2273526" y="1902023"/>
            <a:ext cx="116920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19,911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3442729" y="1902023"/>
            <a:ext cx="986396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62.2%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71500" y="2175272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1500" y="2175272"/>
            <a:ext cx="170202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Moderately Used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273526" y="2175272"/>
            <a:ext cx="116920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5,059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3442729" y="2175272"/>
            <a:ext cx="98639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15.8%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571500" y="2452092"/>
            <a:ext cx="170202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Lightly Used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2273526" y="2452092"/>
            <a:ext cx="116920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4,920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3442729" y="2452092"/>
            <a:ext cx="98639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15.4%</a:t>
            </a:r>
            <a:endParaRPr lang="en-US" sz="834" dirty="0"/>
          </a:p>
        </p:txBody>
      </p:sp>
      <p:sp>
        <p:nvSpPr>
          <p:cNvPr id="24" name="Shape 21"/>
          <p:cNvSpPr/>
          <p:nvPr/>
        </p:nvSpPr>
        <p:spPr>
          <a:xfrm>
            <a:off x="571500" y="2728913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1500" y="2728913"/>
            <a:ext cx="170202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Nearly New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2273526" y="2728913"/>
            <a:ext cx="116920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336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3442729" y="2728913"/>
            <a:ext cx="986396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1.0%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571500" y="3116461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The dominance of </a:t>
            </a:r>
            <a:r>
              <a:rPr lang="en-US" sz="784" b="1" dirty="0">
                <a:solidFill>
                  <a:srgbClr val="047954"/>
                </a:solidFill>
              </a:rPr>
              <a:t>"Heavily Used"</a:t>
            </a:r>
            <a:r>
              <a:rPr lang="en-US" sz="834" dirty="0">
                <a:solidFill>
                  <a:srgbClr val="1A1A1A"/>
                </a:solidFill>
              </a:rPr>
              <a:t> vehicles (62.2%) reflects buyer prioritization of the lowest possible price point. However, the </a:t>
            </a:r>
            <a:r>
              <a:rPr lang="en-US" sz="784" b="1" dirty="0">
                <a:solidFill>
                  <a:srgbClr val="047954"/>
                </a:solidFill>
              </a:rPr>
              <a:t>10K+ units</a:t>
            </a:r>
            <a:r>
              <a:rPr lang="en-US" sz="834" dirty="0">
                <a:solidFill>
                  <a:srgbClr val="1A1A1A"/>
                </a:solidFill>
              </a:rPr>
              <a:t> in "Moderately Used" and "Lightly Used" categories represent a significant opportunity for buyers seeking better quality and value.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4714875" y="1326952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Best Deal Opportunities</a:t>
            </a:r>
            <a:endParaRPr lang="en-US" sz="1193" dirty="0"/>
          </a:p>
        </p:txBody>
      </p:sp>
      <p:sp>
        <p:nvSpPr>
          <p:cNvPr id="30" name="Shape 27"/>
          <p:cNvSpPr/>
          <p:nvPr/>
        </p:nvSpPr>
        <p:spPr>
          <a:xfrm>
            <a:off x="4714875" y="1632347"/>
            <a:ext cx="1104128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14875" y="1898452"/>
            <a:ext cx="1104128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714875" y="1632347"/>
            <a:ext cx="1104128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Model</a:t>
            </a:r>
            <a:endParaRPr lang="en-US" sz="784" dirty="0"/>
          </a:p>
        </p:txBody>
      </p:sp>
      <p:sp>
        <p:nvSpPr>
          <p:cNvPr id="33" name="Shape 30"/>
          <p:cNvSpPr/>
          <p:nvPr/>
        </p:nvSpPr>
        <p:spPr>
          <a:xfrm>
            <a:off x="5819003" y="1632347"/>
            <a:ext cx="1390213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819003" y="1898452"/>
            <a:ext cx="1390213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819003" y="1632347"/>
            <a:ext cx="139021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Price (EGP)</a:t>
            </a:r>
            <a:endParaRPr lang="en-US" sz="784" dirty="0"/>
          </a:p>
        </p:txBody>
      </p:sp>
      <p:sp>
        <p:nvSpPr>
          <p:cNvPr id="36" name="Shape 33"/>
          <p:cNvSpPr/>
          <p:nvPr/>
        </p:nvSpPr>
        <p:spPr>
          <a:xfrm>
            <a:off x="7209216" y="1632347"/>
            <a:ext cx="1363284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209216" y="1898452"/>
            <a:ext cx="1363284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209216" y="1632347"/>
            <a:ext cx="1363284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Deal Score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4714875" y="1902023"/>
            <a:ext cx="1104128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Alsvin</a:t>
            </a:r>
            <a:endParaRPr lang="en-US" sz="834" dirty="0"/>
          </a:p>
        </p:txBody>
      </p:sp>
      <p:sp>
        <p:nvSpPr>
          <p:cNvPr id="40" name="Text 37"/>
          <p:cNvSpPr/>
          <p:nvPr/>
        </p:nvSpPr>
        <p:spPr>
          <a:xfrm>
            <a:off x="5819003" y="1902023"/>
            <a:ext cx="139021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125,000</a:t>
            </a:r>
            <a:endParaRPr lang="en-US" sz="834" dirty="0"/>
          </a:p>
        </p:txBody>
      </p:sp>
      <p:sp>
        <p:nvSpPr>
          <p:cNvPr id="41" name="Text 38"/>
          <p:cNvSpPr/>
          <p:nvPr/>
        </p:nvSpPr>
        <p:spPr>
          <a:xfrm>
            <a:off x="7209216" y="1902023"/>
            <a:ext cx="1363284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0.99</a:t>
            </a:r>
            <a:endParaRPr lang="en-US" sz="834" dirty="0"/>
          </a:p>
        </p:txBody>
      </p:sp>
      <p:sp>
        <p:nvSpPr>
          <p:cNvPr id="42" name="Shape 39"/>
          <p:cNvSpPr/>
          <p:nvPr/>
        </p:nvSpPr>
        <p:spPr>
          <a:xfrm>
            <a:off x="4714875" y="2175272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714875" y="2175272"/>
            <a:ext cx="1104128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Arrizo 3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5819003" y="2175272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445,000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7209216" y="2175272"/>
            <a:ext cx="1363284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0.98</a:t>
            </a:r>
            <a:endParaRPr lang="en-US" sz="834" dirty="0"/>
          </a:p>
        </p:txBody>
      </p:sp>
      <p:sp>
        <p:nvSpPr>
          <p:cNvPr id="46" name="Text 43"/>
          <p:cNvSpPr/>
          <p:nvPr/>
        </p:nvSpPr>
        <p:spPr>
          <a:xfrm>
            <a:off x="4714875" y="2452092"/>
            <a:ext cx="1104128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Alsvin</a:t>
            </a:r>
            <a:endParaRPr lang="en-US" sz="834" dirty="0"/>
          </a:p>
        </p:txBody>
      </p:sp>
      <p:sp>
        <p:nvSpPr>
          <p:cNvPr id="47" name="Text 44"/>
          <p:cNvSpPr/>
          <p:nvPr/>
        </p:nvSpPr>
        <p:spPr>
          <a:xfrm>
            <a:off x="5819003" y="2452092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250,000</a:t>
            </a:r>
            <a:endParaRPr lang="en-US" sz="834" dirty="0"/>
          </a:p>
        </p:txBody>
      </p:sp>
      <p:sp>
        <p:nvSpPr>
          <p:cNvPr id="48" name="Text 45"/>
          <p:cNvSpPr/>
          <p:nvPr/>
        </p:nvSpPr>
        <p:spPr>
          <a:xfrm>
            <a:off x="7209216" y="2452092"/>
            <a:ext cx="1363284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0.98</a:t>
            </a:r>
            <a:endParaRPr lang="en-US" sz="834" dirty="0"/>
          </a:p>
        </p:txBody>
      </p:sp>
      <p:sp>
        <p:nvSpPr>
          <p:cNvPr id="49" name="Shape 46"/>
          <p:cNvSpPr/>
          <p:nvPr/>
        </p:nvSpPr>
        <p:spPr>
          <a:xfrm>
            <a:off x="4714875" y="2728913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714875" y="2728913"/>
            <a:ext cx="1104128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 Presso</a:t>
            </a:r>
            <a:endParaRPr lang="en-US" sz="834" dirty="0"/>
          </a:p>
        </p:txBody>
      </p:sp>
      <p:sp>
        <p:nvSpPr>
          <p:cNvPr id="51" name="Text 48"/>
          <p:cNvSpPr/>
          <p:nvPr/>
        </p:nvSpPr>
        <p:spPr>
          <a:xfrm>
            <a:off x="5819003" y="2728913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255,000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7209216" y="2728913"/>
            <a:ext cx="1363284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0.98</a:t>
            </a:r>
            <a:endParaRPr lang="en-US" sz="834" dirty="0"/>
          </a:p>
        </p:txBody>
      </p:sp>
      <p:sp>
        <p:nvSpPr>
          <p:cNvPr id="53" name="Text 50"/>
          <p:cNvSpPr/>
          <p:nvPr/>
        </p:nvSpPr>
        <p:spPr>
          <a:xfrm>
            <a:off x="4714875" y="3005733"/>
            <a:ext cx="1104128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Alsvin</a:t>
            </a:r>
            <a:endParaRPr lang="en-US" sz="834" dirty="0"/>
          </a:p>
        </p:txBody>
      </p:sp>
      <p:sp>
        <p:nvSpPr>
          <p:cNvPr id="54" name="Text 51"/>
          <p:cNvSpPr/>
          <p:nvPr/>
        </p:nvSpPr>
        <p:spPr>
          <a:xfrm>
            <a:off x="5819003" y="3005733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260,000</a:t>
            </a:r>
            <a:endParaRPr lang="en-US" sz="834" dirty="0"/>
          </a:p>
        </p:txBody>
      </p:sp>
      <p:sp>
        <p:nvSpPr>
          <p:cNvPr id="55" name="Text 52"/>
          <p:cNvSpPr/>
          <p:nvPr/>
        </p:nvSpPr>
        <p:spPr>
          <a:xfrm>
            <a:off x="7209216" y="3005733"/>
            <a:ext cx="1363284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0.98</a:t>
            </a:r>
            <a:endParaRPr lang="en-US" sz="834" dirty="0"/>
          </a:p>
        </p:txBody>
      </p:sp>
      <p:sp>
        <p:nvSpPr>
          <p:cNvPr id="56" name="Text 53"/>
          <p:cNvSpPr/>
          <p:nvPr/>
        </p:nvSpPr>
        <p:spPr>
          <a:xfrm>
            <a:off x="4714875" y="3393281"/>
            <a:ext cx="3857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Models with high </a:t>
            </a:r>
            <a:r>
              <a:rPr lang="en-US" sz="784" b="1" dirty="0">
                <a:solidFill>
                  <a:srgbClr val="047954"/>
                </a:solidFill>
              </a:rPr>
              <a:t>"Deal Scores"</a:t>
            </a:r>
            <a:r>
              <a:rPr lang="en-US" sz="834" dirty="0">
                <a:solidFill>
                  <a:srgbClr val="1A1A1A"/>
                </a:solidFill>
              </a:rPr>
              <a:t> (0.98-0.99) offer excellent value propositions. These vehicles represent the best opportunities for buyers seeking reliable, affordable options with strong market appeal.</a:t>
            </a:r>
            <a:endParaRPr lang="en-US" sz="834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E8FC97-9696-43EB-9D04-CA819B812566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7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C95EE8C-2375-451B-BFE9-DB85145BE721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BFC2523-4D7C-4C08-8CD6-B6FE3E685B77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ECAB29FD-A23A-4428-8497-0C8234E6F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73748E64-B7D0-4138-A747-A0B9C98E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Geographical &amp; Color Preferences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19795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Top 3 Governorates (by Sales Volume)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560909"/>
            <a:ext cx="2467412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827014"/>
            <a:ext cx="2467412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560909"/>
            <a:ext cx="2467412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Governorate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3038912" y="1560909"/>
            <a:ext cx="1390213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038912" y="1827014"/>
            <a:ext cx="1390213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38912" y="1560909"/>
            <a:ext cx="139021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Sales Count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1830586"/>
            <a:ext cx="2467412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Greater Cairo (Tagamo3)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038912" y="1830586"/>
            <a:ext cx="1390213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893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103834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" y="2103834"/>
            <a:ext cx="2467412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Suez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3038912" y="2103834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510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71500" y="2380655"/>
            <a:ext cx="2467412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Tanta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3038912" y="2380655"/>
            <a:ext cx="1390213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265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277534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Sales activity is </a:t>
            </a:r>
            <a:r>
              <a:rPr lang="en-US" sz="784" b="1" dirty="0">
                <a:solidFill>
                  <a:srgbClr val="047954"/>
                </a:solidFill>
              </a:rPr>
              <a:t>concentrated in key urban centers</a:t>
            </a:r>
            <a:r>
              <a:rPr lang="en-US" sz="834" dirty="0">
                <a:solidFill>
                  <a:srgbClr val="1A1A1A"/>
                </a:solidFill>
              </a:rPr>
              <a:t>, requiring precise geographical marketing strategies to maximize reach and effectiveness. The dominance of Greater Cairo reflects the high population density and purchasing power in the capital region.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714875" y="1219795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Top 3 Selling Colors</a:t>
            </a:r>
            <a:endParaRPr lang="en-US" sz="1193" dirty="0"/>
          </a:p>
        </p:txBody>
      </p:sp>
      <p:sp>
        <p:nvSpPr>
          <p:cNvPr id="20" name="Shape 17"/>
          <p:cNvSpPr/>
          <p:nvPr/>
        </p:nvSpPr>
        <p:spPr>
          <a:xfrm>
            <a:off x="4714875" y="1560909"/>
            <a:ext cx="1651825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14875" y="1827014"/>
            <a:ext cx="1651825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14875" y="1560909"/>
            <a:ext cx="1651825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Color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6366700" y="1560909"/>
            <a:ext cx="2205800" cy="27324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366700" y="1827014"/>
            <a:ext cx="2205800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66700" y="1560909"/>
            <a:ext cx="2205800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Sales (K)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714875" y="1830586"/>
            <a:ext cx="1651825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Silver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6366700" y="1830586"/>
            <a:ext cx="2205800" cy="273248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5.0K</a:t>
            </a:r>
            <a:endParaRPr lang="en-US" sz="834" dirty="0"/>
          </a:p>
        </p:txBody>
      </p:sp>
      <p:sp>
        <p:nvSpPr>
          <p:cNvPr id="28" name="Shape 25"/>
          <p:cNvSpPr/>
          <p:nvPr/>
        </p:nvSpPr>
        <p:spPr>
          <a:xfrm>
            <a:off x="4714875" y="2103834"/>
            <a:ext cx="3857625" cy="2768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714875" y="2103834"/>
            <a:ext cx="1651825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White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6366700" y="2103834"/>
            <a:ext cx="2205800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5.0K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714875" y="2380655"/>
            <a:ext cx="1651825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Black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6366700" y="2380655"/>
            <a:ext cx="2205800" cy="27682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3.4K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4714875" y="2775347"/>
            <a:ext cx="38576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47954"/>
                </a:solidFill>
              </a:rPr>
              <a:t>Classic colors are the most demanded</a:t>
            </a:r>
            <a:r>
              <a:rPr lang="en-US" sz="834" dirty="0">
                <a:solidFill>
                  <a:srgbClr val="1A1A1A"/>
                </a:solidFill>
              </a:rPr>
              <a:t>, minimizing resale risk and should be prioritized in inventory management and procurement strategies. The preference for neutral colors reflects buyer confidence in long-term resale value.</a:t>
            </a:r>
            <a:endParaRPr lang="en-US" sz="784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ACF5B0-3944-40F6-B7A5-FE3C96C5F0C1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8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DBDE3E6-698F-49A3-99CA-A52B98B90328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4A7126-44C9-4501-85DA-01558466A53D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59A8AF5-8EA0-442F-AC6C-6F878A028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30FFF03-6E1F-4480-B369-ABDD706F2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8001000" cy="36254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Team + Roles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291233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6EA8"/>
                </a:solidFill>
              </a:rPr>
              <a:t>Core Team Members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632347"/>
            <a:ext cx="2780230" cy="350044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1500" y="1975247"/>
            <a:ext cx="2780230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632347"/>
            <a:ext cx="2780230" cy="3500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Team Member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351730" y="1632347"/>
            <a:ext cx="5220770" cy="350044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351730" y="1975247"/>
            <a:ext cx="5220770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351730" y="1632347"/>
            <a:ext cx="5220770" cy="35004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Role &amp; Responsibilities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1977094"/>
            <a:ext cx="2780230" cy="3534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Michael </a:t>
            </a:r>
            <a:r>
              <a:rPr lang="en-US" sz="942" dirty="0" err="1">
                <a:solidFill>
                  <a:srgbClr val="1A1A1A"/>
                </a:solidFill>
              </a:rPr>
              <a:t>Samoel</a:t>
            </a:r>
            <a:r>
              <a:rPr lang="en-US" sz="942" dirty="0">
                <a:solidFill>
                  <a:srgbClr val="1A1A1A"/>
                </a:solidFill>
              </a:rPr>
              <a:t> </a:t>
            </a:r>
            <a:r>
              <a:rPr lang="en-US" sz="942" dirty="0" err="1">
                <a:solidFill>
                  <a:srgbClr val="1A1A1A"/>
                </a:solidFill>
              </a:rPr>
              <a:t>Dawod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3351730" y="1884166"/>
            <a:ext cx="5220770" cy="66127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>
              <a:lnSpc>
                <a:spcPts val="1200"/>
              </a:lnSpc>
            </a:pPr>
            <a:r>
              <a:rPr lang="en-US" sz="942" dirty="0">
                <a:solidFill>
                  <a:srgbClr val="1A1A1A"/>
                </a:solidFill>
              </a:rPr>
              <a:t>Data Analysis &amp; Statistical Insights &amp; Visualization &amp; Dashboard Design &amp; Market Research &amp; Insights Documentation &amp; Presentation. (Team Leader).</a:t>
            </a:r>
            <a:endParaRPr lang="en-US" sz="942" dirty="0"/>
          </a:p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7219" y="2362795"/>
            <a:ext cx="8001000" cy="35361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71500" y="2328863"/>
            <a:ext cx="278023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Toka Ghonim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351730" y="2328863"/>
            <a:ext cx="522077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Data Visualization &amp; Dashboard Design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2682478"/>
            <a:ext cx="278023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Abd Elrahman Khaled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3351730" y="2682478"/>
            <a:ext cx="522077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Market Research &amp; Insights Documentation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571500" y="3036094"/>
            <a:ext cx="8001000" cy="35361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3036094"/>
            <a:ext cx="278023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Fahim Aziz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351730" y="3036094"/>
            <a:ext cx="5220770" cy="35361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Project Coordination &amp; Presentation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571500" y="3607594"/>
            <a:ext cx="8001000" cy="935831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71500" y="3607594"/>
            <a:ext cx="45719" cy="935831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4375" y="3893344"/>
            <a:ext cx="7715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47954"/>
                </a:solidFill>
              </a:rPr>
              <a:t>Project Supervisor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714375" y="4216598"/>
            <a:ext cx="7715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1A1A1A"/>
                </a:solidFill>
              </a:rPr>
              <a:t>Eng. Sherihan Ali</a:t>
            </a:r>
            <a:endParaRPr lang="en-US" sz="94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58B813-9D7A-4E37-9009-97E988018023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9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4E7BE3C-3EAC-4F14-AC91-8B8BB2D4662F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52828B6-E46E-49B2-94BA-EBD6F0B70F32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B39B50B-DA80-4D32-86CB-4675E4D3F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6BB1197-792E-4BDD-8B4D-723BE5641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1783758" cy="307135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Contact information</a:t>
            </a:r>
            <a:r>
              <a:rPr lang="ar-EG" sz="1602" b="1" dirty="0">
                <a:solidFill>
                  <a:srgbClr val="1A1A1A"/>
                </a:solidFill>
              </a:rPr>
              <a:t>: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62645"/>
            <a:ext cx="3957638" cy="127432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71500" y="1162645"/>
            <a:ext cx="35719" cy="1274322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938" y="1234083"/>
            <a:ext cx="3814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1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642938" y="1653332"/>
            <a:ext cx="1410643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885" b="1" dirty="0">
                <a:solidFill>
                  <a:srgbClr val="1A1A1A"/>
                </a:solidFill>
              </a:rPr>
              <a:t>Michael </a:t>
            </a:r>
            <a:r>
              <a:rPr lang="en-US" sz="885" b="1" dirty="0" err="1">
                <a:solidFill>
                  <a:srgbClr val="1A1A1A"/>
                </a:solidFill>
              </a:rPr>
              <a:t>Samoel</a:t>
            </a:r>
            <a:r>
              <a:rPr lang="en-US" sz="885" b="1" dirty="0">
                <a:solidFill>
                  <a:srgbClr val="1A1A1A"/>
                </a:solidFill>
              </a:rPr>
              <a:t> </a:t>
            </a:r>
            <a:r>
              <a:rPr lang="en-US" sz="885" b="1" dirty="0" err="1">
                <a:solidFill>
                  <a:srgbClr val="1A1A1A"/>
                </a:solidFill>
              </a:rPr>
              <a:t>Dawod</a:t>
            </a:r>
            <a:r>
              <a:rPr lang="en-US" sz="885" b="1" dirty="0">
                <a:solidFill>
                  <a:srgbClr val="1A1A1A"/>
                </a:solidFill>
              </a:rPr>
              <a:t> </a:t>
            </a:r>
            <a:r>
              <a:rPr lang="en-US" sz="885" b="1" dirty="0" err="1">
                <a:solidFill>
                  <a:srgbClr val="1A1A1A"/>
                </a:solidFill>
              </a:rPr>
              <a:t>Fanos</a:t>
            </a:r>
            <a:endParaRPr lang="en-US" sz="885" b="1" dirty="0">
              <a:solidFill>
                <a:srgbClr val="1A1A1A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2938" y="1942654"/>
            <a:ext cx="3814763" cy="2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Mail : </a:t>
            </a:r>
            <a:r>
              <a:rPr lang="en-US" sz="834" dirty="0">
                <a:solidFill>
                  <a:srgbClr val="333333"/>
                </a:solidFill>
                <a:hlinkClick r:id="rId4"/>
              </a:rPr>
              <a:t>Michael.samoel31@Gmail.com</a:t>
            </a:r>
            <a:br>
              <a:rPr lang="en-US" sz="834" dirty="0">
                <a:solidFill>
                  <a:srgbClr val="333333"/>
                </a:solidFill>
              </a:rPr>
            </a:br>
            <a:r>
              <a:rPr lang="en-US" sz="834" b="1" dirty="0">
                <a:solidFill>
                  <a:srgbClr val="333333"/>
                </a:solidFill>
              </a:rPr>
              <a:t>Mobile: </a:t>
            </a:r>
            <a:r>
              <a:rPr lang="en-US" sz="834" dirty="0">
                <a:solidFill>
                  <a:srgbClr val="333333"/>
                </a:solidFill>
              </a:rPr>
              <a:t>+201202884784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614863" y="1162645"/>
            <a:ext cx="3957638" cy="127432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14863" y="1162645"/>
            <a:ext cx="35719" cy="1274322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86300" y="1234083"/>
            <a:ext cx="3814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2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4686300" y="1653332"/>
            <a:ext cx="1181414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Fahim Aziz Ebrahim Isaac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686300" y="1942654"/>
            <a:ext cx="3814763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Mail : </a:t>
            </a:r>
            <a:r>
              <a:rPr lang="en-US" sz="834" dirty="0">
                <a:solidFill>
                  <a:srgbClr val="333333"/>
                </a:solidFill>
                <a:hlinkClick r:id="rId5"/>
              </a:rPr>
              <a:t>Fahimazizguide@gmail.com</a:t>
            </a:r>
            <a:endParaRPr lang="en-US" sz="834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Mobile</a:t>
            </a:r>
            <a:r>
              <a:rPr lang="en-US" sz="834" dirty="0">
                <a:solidFill>
                  <a:srgbClr val="333333"/>
                </a:solidFill>
              </a:rPr>
              <a:t>: +201278095038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571500" y="2522693"/>
            <a:ext cx="3957638" cy="127432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71500" y="2522693"/>
            <a:ext cx="35719" cy="1274322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2938" y="2594130"/>
            <a:ext cx="3814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642938" y="3013379"/>
            <a:ext cx="1187826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 err="1">
                <a:solidFill>
                  <a:srgbClr val="1A1A1A"/>
                </a:solidFill>
              </a:rPr>
              <a:t>Toka</a:t>
            </a:r>
            <a:r>
              <a:rPr lang="en-US" sz="885" b="1" dirty="0">
                <a:solidFill>
                  <a:srgbClr val="1A1A1A"/>
                </a:solidFill>
              </a:rPr>
              <a:t> </a:t>
            </a:r>
            <a:r>
              <a:rPr lang="en-US" sz="885" b="1" dirty="0" err="1">
                <a:solidFill>
                  <a:srgbClr val="1A1A1A"/>
                </a:solidFill>
              </a:rPr>
              <a:t>Elsayed</a:t>
            </a:r>
            <a:r>
              <a:rPr lang="en-US" sz="885" b="1" dirty="0">
                <a:solidFill>
                  <a:srgbClr val="1A1A1A"/>
                </a:solidFill>
              </a:rPr>
              <a:t> Aly Ghonim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42938" y="3302701"/>
            <a:ext cx="3814763" cy="2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Mail </a:t>
            </a:r>
            <a:r>
              <a:rPr lang="en-US" sz="834" dirty="0">
                <a:solidFill>
                  <a:srgbClr val="333333"/>
                </a:solidFill>
              </a:rPr>
              <a:t>: </a:t>
            </a:r>
            <a:r>
              <a:rPr lang="en-US" sz="834" dirty="0">
                <a:solidFill>
                  <a:srgbClr val="333333"/>
                </a:solidFill>
                <a:hlinkClick r:id="rId6"/>
              </a:rPr>
              <a:t>taka.ghonam123@gmail.com</a:t>
            </a:r>
            <a:endParaRPr lang="en-US" sz="834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Mobile: </a:t>
            </a:r>
            <a:r>
              <a:rPr lang="en-US" sz="834" dirty="0">
                <a:solidFill>
                  <a:srgbClr val="333333"/>
                </a:solidFill>
              </a:rPr>
              <a:t>+201016041453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4614863" y="2522693"/>
            <a:ext cx="3957638" cy="127432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614863" y="2522693"/>
            <a:ext cx="35719" cy="1274322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86300" y="2594130"/>
            <a:ext cx="38147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47954"/>
                </a:solidFill>
              </a:rPr>
              <a:t>4</a:t>
            </a:r>
            <a:endParaRPr lang="en-US" sz="1602" dirty="0"/>
          </a:p>
        </p:txBody>
      </p:sp>
      <p:sp>
        <p:nvSpPr>
          <p:cNvPr id="22" name="Text 19"/>
          <p:cNvSpPr/>
          <p:nvPr/>
        </p:nvSpPr>
        <p:spPr>
          <a:xfrm>
            <a:off x="4686300" y="3013379"/>
            <a:ext cx="1495602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Abdelrahman Khalid Abdo Amir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4686300" y="3302701"/>
            <a:ext cx="3814763" cy="297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Mail : </a:t>
            </a:r>
            <a:r>
              <a:rPr lang="en-US" sz="834" dirty="0">
                <a:solidFill>
                  <a:srgbClr val="333333"/>
                </a:solidFill>
                <a:hlinkClick r:id="rId7"/>
              </a:rPr>
              <a:t>Abdelrhman_Khalid1994@outlook.com</a:t>
            </a:r>
            <a:endParaRPr lang="en-US" sz="834" dirty="0">
              <a:solidFill>
                <a:srgbClr val="333333"/>
              </a:solidFill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834" b="1" dirty="0">
                <a:solidFill>
                  <a:srgbClr val="333333"/>
                </a:solidFill>
              </a:rPr>
              <a:t>Mobile: </a:t>
            </a:r>
            <a:r>
              <a:rPr lang="en-US" sz="834" dirty="0">
                <a:solidFill>
                  <a:srgbClr val="333333"/>
                </a:solidFill>
              </a:rPr>
              <a:t>+201004481386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571500" y="4191344"/>
            <a:ext cx="800100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1A1A"/>
                </a:solidFill>
              </a:rPr>
              <a:t>Thank You</a:t>
            </a:r>
            <a:endParaRPr lang="en-US" sz="2016" dirty="0"/>
          </a:p>
        </p:txBody>
      </p:sp>
      <p:sp>
        <p:nvSpPr>
          <p:cNvPr id="25" name="Text 22"/>
          <p:cNvSpPr/>
          <p:nvPr/>
        </p:nvSpPr>
        <p:spPr>
          <a:xfrm>
            <a:off x="685800" y="4534970"/>
            <a:ext cx="8001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For questions or feedback, please contact the project team. We welcome your insights.</a:t>
            </a:r>
            <a:endParaRPr lang="en-US" sz="834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E6969-957B-4D5F-AD02-1E9A697B2EF3}"/>
              </a:ext>
            </a:extLst>
          </p:cNvPr>
          <p:cNvSpPr txBox="1"/>
          <p:nvPr/>
        </p:nvSpPr>
        <p:spPr>
          <a:xfrm>
            <a:off x="8234363" y="4792979"/>
            <a:ext cx="338138" cy="261610"/>
          </a:xfrm>
          <a:prstGeom prst="rect">
            <a:avLst/>
          </a:prstGeom>
          <a:solidFill>
            <a:srgbClr val="1869A6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10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C222F1-ABA2-49DC-BA15-C585D606DD1F}"/>
              </a:ext>
            </a:extLst>
          </p:cNvPr>
          <p:cNvGrpSpPr/>
          <p:nvPr/>
        </p:nvGrpSpPr>
        <p:grpSpPr>
          <a:xfrm>
            <a:off x="6703435" y="4539866"/>
            <a:ext cx="1223665" cy="562602"/>
            <a:chOff x="6703435" y="4539866"/>
            <a:chExt cx="1223665" cy="56260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C68DF4-543C-4D19-B86F-8F1D5CE0B899}"/>
                </a:ext>
              </a:extLst>
            </p:cNvPr>
            <p:cNvSpPr txBox="1"/>
            <p:nvPr/>
          </p:nvSpPr>
          <p:spPr>
            <a:xfrm>
              <a:off x="6703435" y="4539866"/>
              <a:ext cx="1160318" cy="5626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634A755-2B79-42B4-A42A-9DD8317E3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92144" y="4792979"/>
              <a:ext cx="934956" cy="24276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4471</TotalTime>
  <Words>1149</Words>
  <Application>Microsoft Office PowerPoint</Application>
  <PresentationFormat>On-screen Show (16:9)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Michael.samoel31@gmail.com</cp:lastModifiedBy>
  <cp:revision>12</cp:revision>
  <dcterms:created xsi:type="dcterms:W3CDTF">2025-11-29T15:47:16Z</dcterms:created>
  <dcterms:modified xsi:type="dcterms:W3CDTF">2025-12-12T07:38:50Z</dcterms:modified>
</cp:coreProperties>
</file>